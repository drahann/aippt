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27914" y="3903574"/>
            <a:ext cx="11134954" cy="3840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405738" y="3537356"/>
            <a:ext cx="25603" cy="46703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8925" y="4015359"/>
            <a:ext cx="2060448" cy="333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32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0–12个月</a:t>
            </a:r>
            <a:endParaRPr lang="en-US" sz="2432" dirty="0"/>
          </a:p>
        </p:txBody>
      </p:sp>
      <p:sp>
        <p:nvSpPr>
          <p:cNvPr id="6" name="Text 4"/>
          <p:cNvSpPr txBox="1"/>
          <p:nvPr/>
        </p:nvSpPr>
        <p:spPr>
          <a:xfrm>
            <a:off x="388925" y="4433697"/>
            <a:ext cx="2060448" cy="196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48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聚焦航空与国防领域标杆客户，通过定制化方案完成价值验证，目标签约5家头部客户。依托85万元启动资金保障小试研发与试点交付。</a:t>
            </a:r>
            <a:endParaRPr lang="en-US" sz="1648" dirty="0"/>
          </a:p>
        </p:txBody>
      </p:sp>
      <p:sp>
        <p:nvSpPr>
          <p:cNvPr id="7" name="Shape 5"/>
          <p:cNvSpPr/>
          <p:nvPr/>
        </p:nvSpPr>
        <p:spPr>
          <a:xfrm>
            <a:off x="4524451" y="3802075"/>
            <a:ext cx="25603" cy="46703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06419" y="1410691"/>
            <a:ext cx="2060448" cy="333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32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12–24个月</a:t>
            </a:r>
            <a:endParaRPr lang="en-US" sz="2432" dirty="0"/>
          </a:p>
        </p:txBody>
      </p:sp>
      <p:sp>
        <p:nvSpPr>
          <p:cNvPr id="9" name="Text 7"/>
          <p:cNvSpPr txBox="1"/>
          <p:nvPr/>
        </p:nvSpPr>
        <p:spPr>
          <a:xfrm>
            <a:off x="3506419" y="1829029"/>
            <a:ext cx="2060448" cy="196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48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联动哈工大研究中心，联合区域龙头企业共建3个东北区域实训示范点，年度创新投入提升至营收15%，持续优化核心技术。</a:t>
            </a:r>
            <a:endParaRPr lang="en-US" sz="1648" dirty="0"/>
          </a:p>
        </p:txBody>
      </p:sp>
      <p:sp>
        <p:nvSpPr>
          <p:cNvPr id="10" name="Shape 8"/>
          <p:cNvSpPr/>
          <p:nvPr/>
        </p:nvSpPr>
        <p:spPr>
          <a:xfrm>
            <a:off x="7641946" y="3537356"/>
            <a:ext cx="25603" cy="46703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5133" y="4015359"/>
            <a:ext cx="2060448" cy="333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32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24个月后</a:t>
            </a:r>
            <a:endParaRPr lang="en-US" sz="2432" dirty="0"/>
          </a:p>
        </p:txBody>
      </p:sp>
      <p:sp>
        <p:nvSpPr>
          <p:cNvPr id="12" name="Text 10"/>
          <p:cNvSpPr txBox="1"/>
          <p:nvPr/>
        </p:nvSpPr>
        <p:spPr>
          <a:xfrm>
            <a:off x="6625133" y="4433697"/>
            <a:ext cx="2060448" cy="196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48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提炼标准化推广包拓展新赛道，推动高毛利软件服务占比提升至50%，构建"标杆引领—区域扎根—生态辐射"的可持续增长体系。</a:t>
            </a:r>
            <a:endParaRPr lang="en-US" sz="1648" dirty="0"/>
          </a:p>
        </p:txBody>
      </p:sp>
      <p:sp>
        <p:nvSpPr>
          <p:cNvPr id="13" name="Shape 11"/>
          <p:cNvSpPr/>
          <p:nvPr/>
        </p:nvSpPr>
        <p:spPr>
          <a:xfrm>
            <a:off x="10760659" y="3802075"/>
            <a:ext cx="25603" cy="46703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742627" y="1130198"/>
            <a:ext cx="2060448" cy="333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32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第5年</a:t>
            </a:r>
            <a:endParaRPr lang="en-US" sz="2432" dirty="0"/>
          </a:p>
        </p:txBody>
      </p:sp>
      <p:sp>
        <p:nvSpPr>
          <p:cNvPr id="15" name="Text 13"/>
          <p:cNvSpPr txBox="1"/>
          <p:nvPr/>
        </p:nvSpPr>
        <p:spPr>
          <a:xfrm>
            <a:off x="9742627" y="1549222"/>
            <a:ext cx="2060448" cy="2242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48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预计实现总产值5亿元，创造地方税收超6000万元；累计产出多项知识产权与行业标准。直接创造约1000个高质量就业岗位，间接带动2000个技术型岗位。</a:t>
            </a:r>
            <a:endParaRPr lang="en-US" sz="1648" dirty="0"/>
          </a:p>
        </p:txBody>
      </p:sp>
      <p:sp>
        <p:nvSpPr>
          <p:cNvPr id="16" name="Text 14"/>
          <p:cNvSpPr txBox="1"/>
          <p:nvPr/>
        </p:nvSpPr>
        <p:spPr>
          <a:xfrm>
            <a:off x="527914" y="365531"/>
            <a:ext cx="11134954" cy="487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落地路径与社会效益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2026-03-21T03:35:29Z</dcterms:created>
  <dcterms:modified xsi:type="dcterms:W3CDTF">2026-03-21T03:35:29Z</dcterms:modified>
</cp:coreProperties>
</file>
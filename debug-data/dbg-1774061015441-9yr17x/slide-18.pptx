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54838" y="1167917"/>
            <a:ext cx="5827776" cy="55275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209386" y="1167917"/>
            <a:ext cx="5827776" cy="55275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4838" y="183109"/>
            <a:ext cx="11883542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4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财务规划与盈利分析</a:t>
            </a:r>
            <a:endParaRPr lang="en-US" sz="4448" dirty="0"/>
          </a:p>
        </p:txBody>
      </p:sp>
      <p:sp>
        <p:nvSpPr>
          <p:cNvPr id="6" name="Text 4"/>
          <p:cNvSpPr txBox="1"/>
          <p:nvPr/>
        </p:nvSpPr>
        <p:spPr>
          <a:xfrm>
            <a:off x="154838" y="772211"/>
            <a:ext cx="1188354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对比预算驱动模式与盈利结构核心</a:t>
            </a:r>
            <a:endParaRPr lang="en-US" sz="1568" dirty="0"/>
          </a:p>
        </p:txBody>
      </p:sp>
      <p:sp>
        <p:nvSpPr>
          <p:cNvPr id="7" name="Text 5"/>
          <p:cNvSpPr txBox="1"/>
          <p:nvPr/>
        </p:nvSpPr>
        <p:spPr>
          <a:xfrm>
            <a:off x="332842" y="1351026"/>
            <a:ext cx="5470550" cy="268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里程碑驱动预算</a:t>
            </a:r>
            <a:endParaRPr lang="en-US" sz="1920" dirty="0"/>
          </a:p>
        </p:txBody>
      </p:sp>
      <p:sp>
        <p:nvSpPr>
          <p:cNvPr id="8" name="Text 6"/>
          <p:cNvSpPr txBox="1"/>
          <p:nvPr/>
        </p:nvSpPr>
        <p:spPr>
          <a:xfrm>
            <a:off x="332842" y="1785823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9" name="Text 7"/>
          <p:cNvSpPr txBox="1"/>
          <p:nvPr/>
        </p:nvSpPr>
        <p:spPr>
          <a:xfrm>
            <a:off x="519379" y="1761134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紧扣'灯塔验证-生态筑基'双阶段路径设定关键节点</a:t>
            </a:r>
            <a:endParaRPr lang="en-US" sz="1184" dirty="0"/>
          </a:p>
        </p:txBody>
      </p:sp>
      <p:sp>
        <p:nvSpPr>
          <p:cNvPr id="10" name="Text 8"/>
          <p:cNvSpPr txBox="1"/>
          <p:nvPr/>
        </p:nvSpPr>
        <p:spPr>
          <a:xfrm>
            <a:off x="332842" y="2100605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519379" y="207591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预算严格按里程碑分配，总额85万元</a:t>
            </a:r>
            <a:endParaRPr lang="en-US" sz="1184" dirty="0"/>
          </a:p>
        </p:txBody>
      </p:sp>
      <p:sp>
        <p:nvSpPr>
          <p:cNvPr id="12" name="Text 10"/>
          <p:cNvSpPr txBox="1"/>
          <p:nvPr/>
        </p:nvSpPr>
        <p:spPr>
          <a:xfrm>
            <a:off x="332842" y="2415388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519379" y="2391385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设立独立监管账户与双负责人联签的资金纪律</a:t>
            </a:r>
            <a:endParaRPr lang="en-US" sz="1184" dirty="0"/>
          </a:p>
        </p:txBody>
      </p:sp>
      <p:sp>
        <p:nvSpPr>
          <p:cNvPr id="14" name="Text 12"/>
          <p:cNvSpPr txBox="1"/>
          <p:nvPr/>
        </p:nvSpPr>
        <p:spPr>
          <a:xfrm>
            <a:off x="332842" y="2730170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519379" y="270616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以客户验收通过率≥90%等为硬性进度考核节点</a:t>
            </a:r>
            <a:endParaRPr lang="en-US" sz="1184" dirty="0"/>
          </a:p>
        </p:txBody>
      </p:sp>
      <p:sp>
        <p:nvSpPr>
          <p:cNvPr id="16" name="Text 14"/>
          <p:cNvSpPr txBox="1"/>
          <p:nvPr/>
        </p:nvSpPr>
        <p:spPr>
          <a:xfrm>
            <a:off x="332842" y="3044952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519379" y="3020949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预留5万元专项攻关备用金应对技术风险</a:t>
            </a:r>
            <a:endParaRPr lang="en-US" sz="1184" dirty="0"/>
          </a:p>
        </p:txBody>
      </p:sp>
      <p:sp>
        <p:nvSpPr>
          <p:cNvPr id="18" name="Text 16"/>
          <p:cNvSpPr txBox="1"/>
          <p:nvPr/>
        </p:nvSpPr>
        <p:spPr>
          <a:xfrm>
            <a:off x="6388608" y="1351026"/>
            <a:ext cx="5470550" cy="268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盈利结构分析</a:t>
            </a:r>
            <a:endParaRPr lang="en-US" sz="1920" dirty="0"/>
          </a:p>
        </p:txBody>
      </p:sp>
      <p:sp>
        <p:nvSpPr>
          <p:cNvPr id="19" name="Text 17"/>
          <p:cNvSpPr txBox="1"/>
          <p:nvPr/>
        </p:nvSpPr>
        <p:spPr>
          <a:xfrm>
            <a:off x="6388608" y="1785823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6575146" y="1761134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'硬件入口+软件服务+数据生态'三位一体商业模式</a:t>
            </a:r>
            <a:endParaRPr lang="en-US" sz="1184" dirty="0"/>
          </a:p>
        </p:txBody>
      </p:sp>
      <p:sp>
        <p:nvSpPr>
          <p:cNvPr id="21" name="Text 19"/>
          <p:cNvSpPr txBox="1"/>
          <p:nvPr/>
        </p:nvSpPr>
        <p:spPr>
          <a:xfrm>
            <a:off x="6388608" y="2100605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6575146" y="207591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硬件销售占比60%作为基础，软件与数据服务构成高毛利核心</a:t>
            </a:r>
            <a:endParaRPr lang="en-US" sz="1184" dirty="0"/>
          </a:p>
        </p:txBody>
      </p:sp>
      <p:sp>
        <p:nvSpPr>
          <p:cNvPr id="23" name="Text 21"/>
          <p:cNvSpPr txBox="1"/>
          <p:nvPr/>
        </p:nvSpPr>
        <p:spPr>
          <a:xfrm>
            <a:off x="6388608" y="2415388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4" name="Text 22"/>
          <p:cNvSpPr txBox="1"/>
          <p:nvPr/>
        </p:nvSpPr>
        <p:spPr>
          <a:xfrm>
            <a:off x="6575146" y="2391385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高端客户采购周期波动可能影响现金流节奏</a:t>
            </a:r>
            <a:endParaRPr lang="en-US" sz="1184" dirty="0"/>
          </a:p>
        </p:txBody>
      </p:sp>
      <p:sp>
        <p:nvSpPr>
          <p:cNvPr id="25" name="Text 23"/>
          <p:cNvSpPr txBox="1"/>
          <p:nvPr/>
        </p:nvSpPr>
        <p:spPr>
          <a:xfrm>
            <a:off x="6388608" y="2730170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6575146" y="270616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数据服务需严格遵循《个人信息保护法》设计合规模型</a:t>
            </a:r>
            <a:endParaRPr lang="en-US" sz="1184" dirty="0"/>
          </a:p>
        </p:txBody>
      </p:sp>
      <p:sp>
        <p:nvSpPr>
          <p:cNvPr id="27" name="Text 25"/>
          <p:cNvSpPr txBox="1"/>
          <p:nvPr/>
        </p:nvSpPr>
        <p:spPr>
          <a:xfrm>
            <a:off x="6388608" y="3044952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8" name="Text 26"/>
          <p:cNvSpPr txBox="1"/>
          <p:nvPr/>
        </p:nvSpPr>
        <p:spPr>
          <a:xfrm>
            <a:off x="6575146" y="3020949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硬件供应链稳定性是潜在风险</a:t>
            </a:r>
            <a:endParaRPr lang="en-US" sz="11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
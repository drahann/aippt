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1734"/>
            <a:ext cx="12192000" cy="253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126187"/>
            <a:ext cx="12192000" cy="41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跨学科育人生态</a:t>
            </a:r>
            <a:endParaRPr lang="en-US" sz="3280" dirty="0"/>
          </a:p>
        </p:txBody>
      </p:sp>
      <p:sp>
        <p:nvSpPr>
          <p:cNvPr id="5" name="Text 3"/>
          <p:cNvSpPr txBox="1"/>
          <p:nvPr/>
        </p:nvSpPr>
        <p:spPr>
          <a:xfrm>
            <a:off x="0" y="637108"/>
            <a:ext cx="1024128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8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88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637108"/>
            <a:ext cx="11167872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构建"基础融通—前沿聚焦—产教协同"育人体系，以新工科为内核推动多学科交叉融合。</a:t>
            </a:r>
            <a:endParaRPr lang="en-US" sz="1520" dirty="0"/>
          </a:p>
        </p:txBody>
      </p:sp>
      <p:sp>
        <p:nvSpPr>
          <p:cNvPr id="7" name="Text 5"/>
          <p:cNvSpPr txBox="1"/>
          <p:nvPr/>
        </p:nvSpPr>
        <p:spPr>
          <a:xfrm>
            <a:off x="0" y="1378458"/>
            <a:ext cx="1024128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8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88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378458"/>
            <a:ext cx="11167872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依托智能人机交互研究中心等国家级平台，开设《柔性电子器件设计》《多模态感知计算》等交叉课程。</a:t>
            </a:r>
            <a:endParaRPr lang="en-US" sz="1520" dirty="0"/>
          </a:p>
        </p:txBody>
      </p:sp>
      <p:sp>
        <p:nvSpPr>
          <p:cNvPr id="9" name="Text 7"/>
          <p:cNvSpPr txBox="1"/>
          <p:nvPr/>
        </p:nvSpPr>
        <p:spPr>
          <a:xfrm>
            <a:off x="0" y="2119808"/>
            <a:ext cx="1024128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8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88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119808"/>
            <a:ext cx="11167872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推行"课程群+项目制"培养模式，引导学生在材料、AI、系统工程等领域实现知识融合与能力跃升。</a:t>
            </a:r>
            <a:endParaRPr lang="en-US" sz="1520" dirty="0"/>
          </a:p>
        </p:txBody>
      </p:sp>
      <p:sp>
        <p:nvSpPr>
          <p:cNvPr id="11" name="Text 9"/>
          <p:cNvSpPr txBox="1"/>
          <p:nvPr/>
        </p:nvSpPr>
        <p:spPr>
          <a:xfrm>
            <a:off x="0" y="2861843"/>
            <a:ext cx="1024128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8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88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861843"/>
            <a:ext cx="11167872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通过"祖光杯""校长杯"等赛事及国家级大创计划，系统训练学生将专业知识与市场需求精准对接。</a:t>
            </a:r>
            <a:endParaRPr lang="en-US" sz="1520" dirty="0"/>
          </a:p>
        </p:txBody>
      </p:sp>
      <p:sp>
        <p:nvSpPr>
          <p:cNvPr id="13" name="Text 11"/>
          <p:cNvSpPr txBox="1"/>
          <p:nvPr/>
        </p:nvSpPr>
        <p:spPr>
          <a:xfrm>
            <a:off x="0" y="3603193"/>
            <a:ext cx="1024128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8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688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603193"/>
            <a:ext cx="11167872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联合航天科工、华为等头部企业共建产教融合基地，开展"真问题、真场景、真产品"的项目制实训。</a:t>
            </a:r>
            <a:endParaRPr lang="en-US" sz="1520" dirty="0"/>
          </a:p>
        </p:txBody>
      </p:sp>
      <p:sp>
        <p:nvSpPr>
          <p:cNvPr id="15" name="Text 13"/>
          <p:cNvSpPr txBox="1"/>
          <p:nvPr/>
        </p:nvSpPr>
        <p:spPr>
          <a:xfrm>
            <a:off x="0" y="4344543"/>
            <a:ext cx="1024128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8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688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4344543"/>
            <a:ext cx="11167872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实施"校内导师+企业工程师"双指导制，将产业思维前置嵌入创新起点，加速技术到产业的转化周期。</a:t>
            </a:r>
            <a:endParaRPr lang="en-US" sz="1520" dirty="0"/>
          </a:p>
        </p:txBody>
      </p:sp>
      <p:sp>
        <p:nvSpPr>
          <p:cNvPr id="17" name="Text 15"/>
          <p:cNvSpPr txBox="1"/>
          <p:nvPr/>
        </p:nvSpPr>
        <p:spPr>
          <a:xfrm>
            <a:off x="0" y="5086579"/>
            <a:ext cx="1024128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8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688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5086579"/>
            <a:ext cx="11167872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学生在项目全周期中锤炼出面向复杂系统的问题拆解、协同创新及商业转化能力。</a:t>
            </a:r>
            <a:endParaRPr lang="en-US" sz="1520" dirty="0"/>
          </a:p>
        </p:txBody>
      </p:sp>
      <p:sp>
        <p:nvSpPr>
          <p:cNvPr id="19" name="Text 17"/>
          <p:cNvSpPr txBox="1"/>
          <p:nvPr/>
        </p:nvSpPr>
        <p:spPr>
          <a:xfrm>
            <a:off x="0" y="5827928"/>
            <a:ext cx="1024128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8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688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5827928"/>
            <a:ext cx="11167872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育人体系有效支撑了"龙影"数据手套等创新项目在工业仿真、元宇宙交互等场景的落地应用。</a:t>
            </a:r>
            <a:endParaRPr lang="en-US" sz="1520" dirty="0"/>
          </a:p>
        </p:txBody>
      </p:sp>
      <p:sp>
        <p:nvSpPr>
          <p:cNvPr id="21" name="Text 19"/>
          <p:cNvSpPr txBox="1"/>
          <p:nvPr/>
        </p:nvSpPr>
        <p:spPr>
          <a:xfrm>
            <a:off x="167030" y="6626200"/>
            <a:ext cx="1316736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BUSINESS REVIEW</a:t>
            </a:r>
            <a:endParaRPr lang="en-US" sz="1216" dirty="0"/>
          </a:p>
        </p:txBody>
      </p:sp>
      <p:sp>
        <p:nvSpPr>
          <p:cNvPr id="22" name="Text 20"/>
          <p:cNvSpPr txBox="1"/>
          <p:nvPr/>
        </p:nvSpPr>
        <p:spPr>
          <a:xfrm>
            <a:off x="11004499" y="6626200"/>
            <a:ext cx="102169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16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TODAY'S DATE</a:t>
            </a:r>
            <a:endParaRPr lang="en-US" sz="121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
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615891" y="347701"/>
            <a:ext cx="1849526" cy="1006069"/>
          </a:xfrm>
          <a:prstGeom prst="rect">
            <a:avLst>
              <a:gd name="adj" fmla="val 1636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615891" y="1922983"/>
            <a:ext cx="1849526" cy="1006069"/>
          </a:xfrm>
          <a:prstGeom prst="rect">
            <a:avLst>
              <a:gd name="adj" fmla="val 1636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615891" y="3498266"/>
            <a:ext cx="1849526" cy="1006069"/>
          </a:xfrm>
          <a:prstGeom prst="rect">
            <a:avLst>
              <a:gd name="adj" fmla="val 16360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615891" y="5073548"/>
            <a:ext cx="1849526" cy="1006069"/>
          </a:xfrm>
          <a:prstGeom prst="rect">
            <a:avLst>
              <a:gd name="adj" fmla="val 1636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4307" y="2838526"/>
            <a:ext cx="4006291" cy="1181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6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团队优势与技术挑战</a:t>
            </a:r>
            <a:endParaRPr lang="en-US" sz="4560" dirty="0"/>
          </a:p>
        </p:txBody>
      </p:sp>
      <p:sp>
        <p:nvSpPr>
          <p:cNvPr id="8" name="Text 6"/>
          <p:cNvSpPr txBox="1"/>
          <p:nvPr/>
        </p:nvSpPr>
        <p:spPr>
          <a:xfrm>
            <a:off x="6658051" y="347701"/>
            <a:ext cx="521939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跨学科工程化能力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6658051" y="585673"/>
            <a:ext cx="5219395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团队融合材料科学、人工智能、算法与系统工程，具备覆盖"感知-算法-交互-系统"全链条的整合能力，为数据手套提供硬件、算法及系统集成的坚实支撑。</a:t>
            </a:r>
            <a:endParaRPr lang="en-US" sz="1136" dirty="0"/>
          </a:p>
        </p:txBody>
      </p:sp>
      <p:sp>
        <p:nvSpPr>
          <p:cNvPr id="10" name="Text 8"/>
          <p:cNvSpPr txBox="1"/>
          <p:nvPr/>
        </p:nvSpPr>
        <p:spPr>
          <a:xfrm>
            <a:off x="6658051" y="1922983"/>
            <a:ext cx="521939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深厚科研与技术积淀</a:t>
            </a:r>
            <a:endParaRPr lang="en-US" sz="1360" dirty="0"/>
          </a:p>
        </p:txBody>
      </p:sp>
      <p:sp>
        <p:nvSpPr>
          <p:cNvPr id="11" name="Text 9"/>
          <p:cNvSpPr txBox="1"/>
          <p:nvPr/>
        </p:nvSpPr>
        <p:spPr>
          <a:xfrm>
            <a:off x="6658051" y="2160956"/>
            <a:ext cx="5219395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累计发表核心期刊论文50余篇，获授权国家发明专利10余项，核心技术达"国际先进水平",在柔性传感、低延迟控制、多模态融合等方向形成自主技术体系。</a:t>
            </a:r>
            <a:endParaRPr lang="en-US" sz="1136" dirty="0"/>
          </a:p>
        </p:txBody>
      </p:sp>
      <p:sp>
        <p:nvSpPr>
          <p:cNvPr id="12" name="Text 10"/>
          <p:cNvSpPr txBox="1"/>
          <p:nvPr/>
        </p:nvSpPr>
        <p:spPr>
          <a:xfrm>
            <a:off x="6658051" y="3498266"/>
            <a:ext cx="521939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柔性传感器技术瓶颈</a:t>
            </a:r>
            <a:endParaRPr lang="en-US" sz="1360" dirty="0"/>
          </a:p>
        </p:txBody>
      </p:sp>
      <p:sp>
        <p:nvSpPr>
          <p:cNvPr id="13" name="Text 11"/>
          <p:cNvSpPr txBox="1"/>
          <p:nvPr/>
        </p:nvSpPr>
        <p:spPr>
          <a:xfrm>
            <a:off x="6658051" y="3736238"/>
            <a:ext cx="5219395" cy="360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当前柔性传感器存在迟滞误差高（&gt;15%）、环境稳定性弱、成本高昂及数据长期漂移校准难等问题，制约可穿戴设备的规模化应用。</a:t>
            </a:r>
            <a:endParaRPr lang="en-US" sz="1136" dirty="0"/>
          </a:p>
        </p:txBody>
      </p:sp>
      <p:sp>
        <p:nvSpPr>
          <p:cNvPr id="14" name="Text 12"/>
          <p:cNvSpPr txBox="1"/>
          <p:nvPr/>
        </p:nvSpPr>
        <p:spPr>
          <a:xfrm>
            <a:off x="6658051" y="5073548"/>
            <a:ext cx="521939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手势识别与交互挑战</a:t>
            </a:r>
            <a:endParaRPr lang="en-US" sz="1360" dirty="0"/>
          </a:p>
        </p:txBody>
      </p:sp>
      <p:sp>
        <p:nvSpPr>
          <p:cNvPr id="15" name="Text 13"/>
          <p:cNvSpPr txBox="1"/>
          <p:nvPr/>
        </p:nvSpPr>
        <p:spPr>
          <a:xfrm>
            <a:off x="6658051" y="5311521"/>
            <a:ext cx="5219395" cy="54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深度学习模型在连续手势流、个体差异及环境干扰下鲁棒性不足，复杂工况下精度低于92%、延迟超80ms；多模态交互缺乏闭环设计且与国产XR平台深度适配方案稀缺。</a:t>
            </a:r>
            <a:endParaRPr lang="en-US" sz="11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
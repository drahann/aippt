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79222" y="402565"/>
            <a:ext cx="3610051" cy="6284671"/>
          </a:xfrm>
          <a:prstGeom prst="rect">
            <a:avLst>
              <a:gd name="adj" fmla="val 1013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2438" y="402565"/>
            <a:ext cx="8200339" cy="6284671"/>
          </a:xfrm>
          <a:prstGeom prst="rect">
            <a:avLst>
              <a:gd name="adj" fmla="val 582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4579" y="659054"/>
            <a:ext cx="186538" cy="18722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57421" y="622706"/>
            <a:ext cx="2316480" cy="20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扁平化架构与核心引领</a:t>
            </a:r>
            <a:endParaRPr lang="en-US" sz="1568" dirty="0"/>
          </a:p>
        </p:txBody>
      </p:sp>
      <p:sp>
        <p:nvSpPr>
          <p:cNvPr id="7" name="Text 5"/>
          <p:cNvSpPr txBox="1"/>
          <p:nvPr/>
        </p:nvSpPr>
        <p:spPr>
          <a:xfrm>
            <a:off x="4357421" y="874395"/>
            <a:ext cx="2316480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团队构建"核心引领、模块协同"的扁平化架构，由范柳丰博士统筹战略与技术攻坚，下设技术研发、产品运营与质量供应链三大职能模块。</a:t>
            </a:r>
            <a:endParaRPr lang="en-US" sz="1056" dirty="0"/>
          </a:p>
        </p:txBody>
      </p:sp>
      <p:sp>
        <p:nvSpPr>
          <p:cNvPr id="8" name="Shape 6"/>
          <p:cNvSpPr/>
          <p:nvPr/>
        </p:nvSpPr>
        <p:spPr>
          <a:xfrm>
            <a:off x="8034528" y="659054"/>
            <a:ext cx="186538" cy="18722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67370" y="622706"/>
            <a:ext cx="2316480" cy="20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技术研发模块</a:t>
            </a:r>
            <a:endParaRPr lang="en-US" sz="1568" dirty="0"/>
          </a:p>
        </p:txBody>
      </p:sp>
      <p:sp>
        <p:nvSpPr>
          <p:cNvPr id="10" name="Text 8"/>
          <p:cNvSpPr txBox="1"/>
          <p:nvPr/>
        </p:nvSpPr>
        <p:spPr>
          <a:xfrm>
            <a:off x="8367370" y="874395"/>
            <a:ext cx="2316480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专注手势识别算法优化、柔性传感器集成与多模态系统架构设计，由软件、硬件及系统架构负责人组成，实现核心技术自主攻关。</a:t>
            </a:r>
            <a:endParaRPr lang="en-US" sz="1056" dirty="0"/>
          </a:p>
        </p:txBody>
      </p:sp>
      <p:sp>
        <p:nvSpPr>
          <p:cNvPr id="11" name="Shape 9"/>
          <p:cNvSpPr/>
          <p:nvPr/>
        </p:nvSpPr>
        <p:spPr>
          <a:xfrm>
            <a:off x="4024579" y="2671191"/>
            <a:ext cx="186538" cy="18722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57421" y="2634158"/>
            <a:ext cx="2316480" cy="20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产品运营模块</a:t>
            </a:r>
            <a:endParaRPr lang="en-US" sz="1568" dirty="0"/>
          </a:p>
        </p:txBody>
      </p:sp>
      <p:sp>
        <p:nvSpPr>
          <p:cNvPr id="13" name="Text 11"/>
          <p:cNvSpPr txBox="1"/>
          <p:nvPr/>
        </p:nvSpPr>
        <p:spPr>
          <a:xfrm>
            <a:off x="4357421" y="2885846"/>
            <a:ext cx="23164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深度联动用户需求与开发者生态，负责实训场景验证策划及社群运营，推动产品与市场精准对接。</a:t>
            </a:r>
            <a:endParaRPr lang="en-US" sz="1056" dirty="0"/>
          </a:p>
        </p:txBody>
      </p:sp>
      <p:sp>
        <p:nvSpPr>
          <p:cNvPr id="14" name="Shape 12"/>
          <p:cNvSpPr/>
          <p:nvPr/>
        </p:nvSpPr>
        <p:spPr>
          <a:xfrm>
            <a:off x="8034528" y="2671191"/>
            <a:ext cx="186538" cy="18722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7370" y="2634158"/>
            <a:ext cx="2316480" cy="20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质量供应链模块</a:t>
            </a:r>
            <a:endParaRPr lang="en-US" sz="1568" dirty="0"/>
          </a:p>
        </p:txBody>
      </p:sp>
      <p:sp>
        <p:nvSpPr>
          <p:cNvPr id="16" name="Text 14"/>
          <p:cNvSpPr txBox="1"/>
          <p:nvPr/>
        </p:nvSpPr>
        <p:spPr>
          <a:xfrm>
            <a:off x="8367370" y="2885846"/>
            <a:ext cx="23164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严守军工/医疗级可靠性标准，高效对接纳米材料等关键供应链，确保产品从研发到落地的质量闭环。</a:t>
            </a:r>
            <a:endParaRPr lang="en-US" sz="1056" dirty="0"/>
          </a:p>
        </p:txBody>
      </p:sp>
      <p:sp>
        <p:nvSpPr>
          <p:cNvPr id="17" name="Shape 15"/>
          <p:cNvSpPr/>
          <p:nvPr/>
        </p:nvSpPr>
        <p:spPr>
          <a:xfrm>
            <a:off x="4024579" y="4682642"/>
            <a:ext cx="186538" cy="18722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57421" y="4646295"/>
            <a:ext cx="2316480" cy="20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哈工大人才梯队</a:t>
            </a:r>
            <a:endParaRPr lang="en-US" sz="1568" dirty="0"/>
          </a:p>
        </p:txBody>
      </p:sp>
      <p:sp>
        <p:nvSpPr>
          <p:cNvPr id="19" name="Text 17"/>
          <p:cNvSpPr txBox="1"/>
          <p:nvPr/>
        </p:nvSpPr>
        <p:spPr>
          <a:xfrm>
            <a:off x="4357421" y="4897984"/>
            <a:ext cx="2316480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7人核心团队均源自哈工大计算学部，形成"1博士+5硕士+1本科"梯队，专业覆盖计算机科学、软件工程、材料工程，实现全链条能力闭环。</a:t>
            </a:r>
            <a:endParaRPr lang="en-US" sz="1056" dirty="0"/>
          </a:p>
        </p:txBody>
      </p:sp>
      <p:sp>
        <p:nvSpPr>
          <p:cNvPr id="20" name="Shape 18"/>
          <p:cNvSpPr/>
          <p:nvPr/>
        </p:nvSpPr>
        <p:spPr>
          <a:xfrm>
            <a:off x="8034528" y="4682642"/>
            <a:ext cx="186538" cy="18722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7370" y="4646295"/>
            <a:ext cx="2316480" cy="20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敏捷协同与校训精神</a:t>
            </a:r>
            <a:endParaRPr lang="en-US" sz="1568" dirty="0"/>
          </a:p>
        </p:txBody>
      </p:sp>
      <p:sp>
        <p:nvSpPr>
          <p:cNvPr id="22" name="Text 20"/>
          <p:cNvSpPr txBox="1"/>
          <p:nvPr/>
        </p:nvSpPr>
        <p:spPr>
          <a:xfrm>
            <a:off x="8367370" y="4897984"/>
            <a:ext cx="2316480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日常采用Scrum敏捷模式，通过站会与迭代评审强化跨模块协同。团队扎根哈工大"规格严格，功夫到家"校训，聚焦科技报国使命。</a:t>
            </a:r>
            <a:endParaRPr lang="en-US" sz="1056" dirty="0"/>
          </a:p>
        </p:txBody>
      </p:sp>
      <p:sp>
        <p:nvSpPr>
          <p:cNvPr id="23" name="Text 21"/>
          <p:cNvSpPr txBox="1"/>
          <p:nvPr/>
        </p:nvSpPr>
        <p:spPr>
          <a:xfrm>
            <a:off x="370637" y="3051124"/>
            <a:ext cx="3226003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9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团队结构与精神</a:t>
            </a:r>
            <a:endParaRPr lang="en-US" sz="39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
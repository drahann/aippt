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_财务规划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085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820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风险控制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字体圈欣意冠黑体"/>
                <a:ea typeface="字体圈欣意冠黑体"/>
                <a:cs typeface="字体圈欣意冠黑体"/>
              </a:rPr>
              <a:t>财务规划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1047750"/>
            <a:ext cx="9334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融资 1000 万元 · 出让 30% 股权 · 三年累计销售收入 20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943100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资金使用 · 分阶段执行计划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4350" y="2362200"/>
            <a:ext cx="1428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DBDE6"/>
                </a:solidFill>
                <a:latin typeface="Microsoft YaHei"/>
                <a:ea typeface="Microsoft YaHei"/>
                <a:cs typeface="Microsoft YaHei"/>
              </a:rPr>
              <a:t>单位：资金占比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3622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当年投入占比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33" y="3045069"/>
            <a:ext cx="1475232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33" y="5314950"/>
            <a:ext cx="1475232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第一年</a:t>
            </a:r>
          </a:p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工艺优化·2家客户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3734" y="3045069"/>
            <a:ext cx="1475232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3734" y="5314950"/>
            <a:ext cx="1475232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第二年</a:t>
            </a:r>
          </a:p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TIE332-350·3家客户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0434" y="3960934"/>
            <a:ext cx="1475232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0434" y="5314950"/>
            <a:ext cx="1475232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第三年</a:t>
            </a:r>
          </a:p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矩阵完善·规模复制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924550"/>
            <a:ext cx="49149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资金拨付与里程碑节点严格挂钩，核心团队与投资方协同监督，确保投入效率与目标一致。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1943100"/>
            <a:ext cx="5029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资金分配结构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8075" y="3438525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1000万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8075" y="3743325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专项融资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8025" y="4686300"/>
            <a:ext cx="18288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研发投入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5775" y="46482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8025" y="5048250"/>
            <a:ext cx="1866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萃取剂工艺·新品TIE332-381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5975" y="4686300"/>
            <a:ext cx="18288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运营支出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3725" y="46482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5975" y="5048250"/>
            <a:ext cx="1866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管理·知产维护·流动资金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8025" y="5734050"/>
            <a:ext cx="18288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市场推广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5775" y="56959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8025" y="6096000"/>
            <a:ext cx="1866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标杆对接·白皮书·精准营销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5975" y="5734050"/>
            <a:ext cx="18288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团队建设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3725" y="56959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5975" y="6096000"/>
            <a:ext cx="1866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研发工艺市场人才·激励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_落地前景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085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820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0" y="338137"/>
            <a:ext cx="1571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落地前景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字体圈欣意冠黑体"/>
                <a:ea typeface="字体圈欣意冠黑体"/>
                <a:cs typeface="字体圈欣意冠黑体"/>
              </a:rPr>
              <a:t>落地前景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106680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5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产业验证阶段 · 三年三阶段推进 · 累计销售收入 20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" y="16764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产业化实施路径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9800" y="171450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9DBDE6"/>
                </a:solidFill>
                <a:latin typeface="Microsoft YaHei"/>
                <a:ea typeface="Microsoft YaHei"/>
                <a:cs typeface="Microsoft YaHei"/>
              </a:rPr>
              <a:t>实验室系统验证已完成，高酸度含氟硫复杂废液中铈离子选择性萃取、两相分离与溶剂循环稳定，具备中试放大条件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0750"/>
            <a:ext cx="32004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中试验证 · 标杆突破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938337"/>
            <a:ext cx="7620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80" b="1">
                <a:solidFill>
                  <a:srgbClr val="F2C14E"/>
                </a:solidFill>
                <a:latin typeface="Microsoft YaHei"/>
                <a:ea typeface="Microsoft YaHei"/>
                <a:cs typeface="Microsoft YaHei"/>
              </a:rPr>
              <a:t>第一年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26289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TIE331 工艺参数固化 + 中试放大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28956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对接 2 家稀土回收标杆企业小批量试用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1623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验证单级萃取效率（回收率≥85%），形成可复制实施方案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800" y="2190750"/>
            <a:ext cx="32004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产品拓展 · 网络构建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1938337"/>
            <a:ext cx="7620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80" b="1">
                <a:solidFill>
                  <a:srgbClr val="F2C14E"/>
                </a:solidFill>
                <a:latin typeface="Microsoft YaHei"/>
                <a:ea typeface="Microsoft YaHei"/>
                <a:cs typeface="Microsoft YaHei"/>
              </a:rPr>
              <a:t>第二年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3450" y="26289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推进 TIE332–350 系列开发，拓展 3 家标杆客户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3450" y="310515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深化校企协同，积累跨场景应用数据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3450" y="337185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完善“技术方案+定制服务”轻资产服务模式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2190750"/>
            <a:ext cx="32004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模式固化 · 规模预备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700" y="1938337"/>
            <a:ext cx="7620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80" b="1">
                <a:solidFill>
                  <a:srgbClr val="F2C14E"/>
                </a:solidFill>
                <a:latin typeface="Microsoft YaHei"/>
                <a:ea typeface="Microsoft YaHei"/>
                <a:cs typeface="Microsoft YaHei"/>
              </a:rPr>
              <a:t>第三年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3450" y="26289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TIE331–381 全系产品矩阵优化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3450" y="28956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依托客户反馈闭环迭代技术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3450" y="31623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累计销售收入 20 万元，验证商业模式可行性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672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19575"/>
            <a:ext cx="30289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2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市场推广策略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469582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6FFFF"/>
                </a:solidFill>
                <a:latin typeface="Microsoft YaHei"/>
                <a:ea typeface="Microsoft YaHei"/>
                <a:cs typeface="Microsoft YaHei"/>
              </a:rPr>
              <a:t>精准锚定标杆合作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600" y="4905375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聚焦稀土回收 / 萃取剂厂商，小批量试用验证 TIE331 回收率与成本实效，形成可量化合作案例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600" y="543877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6FFFF"/>
                </a:solidFill>
                <a:latin typeface="Microsoft YaHei"/>
                <a:ea typeface="Microsoft YaHei"/>
                <a:cs typeface="Microsoft YaHei"/>
              </a:rPr>
              <a:t>校企资源协同赋能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" y="5648325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联动新西伯利亚国立大学，举办绿色回收技术研讨会，建立高意向客户清单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" y="618172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6FFFF"/>
                </a:solidFill>
                <a:latin typeface="Microsoft YaHei"/>
                <a:ea typeface="Microsoft YaHei"/>
                <a:cs typeface="Microsoft YaHei"/>
              </a:rPr>
              <a:t>梯度渗透市场覆盖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600" y="6391275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定向技术分享 + 行业白皮书 + 直播会议，推动成功模式向区域及跨场景复制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3425" y="42672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2025" y="4219575"/>
            <a:ext cx="30289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2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综合效益展望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8225" y="469582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CF0C0"/>
                </a:solidFill>
                <a:latin typeface="Microsoft YaHei"/>
                <a:ea typeface="Microsoft YaHei"/>
                <a:cs typeface="Microsoft YaHei"/>
              </a:rPr>
              <a:t>经济效益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8225" y="4905375"/>
            <a:ext cx="2857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轻资产运营降低初期投入，溶剂可循环压缩长期成本；后续通过技术授权、定制服务等高附加值路径提升盈利，形成“销售-反馈-优化”现金流循环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8225" y="585787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CF0C0"/>
                </a:solidFill>
                <a:latin typeface="Microsoft YaHei"/>
                <a:ea typeface="Microsoft YaHei"/>
                <a:cs typeface="Microsoft YaHei"/>
              </a:rPr>
              <a:t>社会效益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8225" y="6067425"/>
            <a:ext cx="2857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推动工业废弃物中稀土高效绿色回收，减污惠民；为行业提供可推广资源化方案，助力工艺升级与国家循环经济战略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1050" y="42672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2C14E"/>
                </a:solidFill>
                <a:latin typeface="Alibaba PuHuiTi H"/>
                <a:ea typeface="Alibaba PuHuiTi H"/>
                <a:cs typeface="Alibaba PuHuiTi H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9650" y="4219575"/>
            <a:ext cx="30289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20" b="1">
                <a:solidFill>
                  <a:srgbClr val="FFFFFF"/>
                </a:solidFill>
                <a:latin typeface="Alibaba PuHuiTi H"/>
                <a:ea typeface="Alibaba PuHuiTi H"/>
                <a:cs typeface="Alibaba PuHuiTi H"/>
              </a:rPr>
              <a:t>风险应对机制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850" y="469582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C14E"/>
                </a:solidFill>
                <a:latin typeface="Microsoft YaHei"/>
                <a:ea typeface="Microsoft YaHei"/>
                <a:cs typeface="Microsoft YaHei"/>
              </a:rPr>
              <a:t>市场风险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850" y="4905375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精准锚定 + 梯度扩张，优先验证高匹配度客户，预留运营资金应对需求波动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850" y="543877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C14E"/>
                </a:solidFill>
                <a:latin typeface="Microsoft YaHei"/>
                <a:ea typeface="Microsoft YaHei"/>
                <a:cs typeface="Microsoft YaHei"/>
              </a:rPr>
              <a:t>技术风险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5850" y="5648325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高校科研平台 + 中试验证闭环持续优化工艺参数，建立客户反馈实时迭代机制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850" y="6181725"/>
            <a:ext cx="28765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C14E"/>
                </a:solidFill>
                <a:latin typeface="Microsoft YaHei"/>
                <a:ea typeface="Microsoft YaHei"/>
                <a:cs typeface="Microsoft YaHei"/>
              </a:rPr>
              <a:t>运营风险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850" y="6391275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核心团队持股 34.3% 绑定，专项账户分阶段拨付，轻资产结构降低固定成本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_社会影响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57625" y="457200"/>
            <a:ext cx="44767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900" b="1">
                <a:solidFill>
                  <a:srgbClr val="F2D290"/>
                </a:solidFill>
                <a:latin typeface="Alibaba PuHuiTi H"/>
                <a:ea typeface="Alibaba PuHuiTi H"/>
                <a:cs typeface="Alibaba PuHuiTi H"/>
              </a:rPr>
              <a:t>社会影响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8500" y="1066800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SOCIAL  IMPACT · 三维社会价值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7375" y="2095500"/>
            <a:ext cx="876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27813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2D290"/>
                </a:solidFill>
                <a:latin typeface="Alibaba PuHuiTi H"/>
                <a:ea typeface="Alibaba PuHuiTi H"/>
                <a:cs typeface="Alibaba PuHuiTi H"/>
              </a:rPr>
              <a:t>民生福祉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3105150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5EB0FC"/>
                </a:solidFill>
                <a:latin typeface="Microsoft YaHei"/>
                <a:ea typeface="Microsoft YaHei"/>
                <a:cs typeface="Microsoft YaHei"/>
              </a:rPr>
              <a:t>LIVELIHOOD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33337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2D290"/>
                </a:solidFill>
                <a:latin typeface="Microsoft YaHei"/>
                <a:ea typeface="Microsoft YaHei"/>
                <a:cs typeface="Microsoft YaHei"/>
              </a:rPr>
              <a:t>就业拉动 · 人才提质 · 获得感增强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7147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7147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直接或间接带动相关行业新增就业约50人，就业拉动效应显著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3624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3624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以萃取剂技术创新弥补工业废弃物资源化人才结构性缺口，系统提升技术能力与职业素养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0101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50101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依托萜类化合物产业链协同，提供技术含量高、成长清晰的岗位，增强职业稳定性与社会认同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6578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56578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产业链价值提升间接优化薪酬结构与社保覆盖，增强劳动者获得感与就业可持续性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7850" y="2095500"/>
            <a:ext cx="876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9225" y="27813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2D290"/>
                </a:solidFill>
                <a:latin typeface="Alibaba PuHuiTi H"/>
                <a:ea typeface="Alibaba PuHuiTi H"/>
                <a:cs typeface="Alibaba PuHuiTi H"/>
              </a:rPr>
              <a:t>社会文明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275" y="3105150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5EB0FC"/>
                </a:solidFill>
                <a:latin typeface="Microsoft YaHei"/>
                <a:ea typeface="Microsoft YaHei"/>
                <a:cs typeface="Microsoft YaHei"/>
              </a:rPr>
              <a:t>CIVILIZATION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0125" y="33337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2D290"/>
                </a:solidFill>
                <a:latin typeface="Microsoft YaHei"/>
                <a:ea typeface="Microsoft YaHei"/>
                <a:cs typeface="Microsoft YaHei"/>
              </a:rPr>
              <a:t>平台协作 · 知识共享 · 包容韧性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475" y="37147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3925" y="37147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构建"校—企—产"多元协作平台，联动新西伯利亚国立大学等开展技术研讨与案例分享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475" y="43624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3925" y="43624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促进科研人员、企业技术骨干、产业工人等不同群体深度交流与知识共享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475" y="50101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3925" y="50101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打破行业壁垒与信息孤岛，推动社会资源优化配置与群体间理解互信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475" y="56578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3925" y="56578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培育开放协作、创新驱动的社会文化，助力社会向包容、协同、韧性方向演进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8325" y="2095500"/>
            <a:ext cx="876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9700" y="27813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2D290"/>
                </a:solidFill>
                <a:latin typeface="Alibaba PuHuiTi H"/>
                <a:ea typeface="Alibaba PuHuiTi H"/>
                <a:cs typeface="Alibaba PuHuiTi H"/>
              </a:rPr>
              <a:t>生态文明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8750" y="3105150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5EB0FC"/>
                </a:solidFill>
                <a:latin typeface="Microsoft YaHei"/>
                <a:ea typeface="Microsoft YaHei"/>
                <a:cs typeface="Microsoft YaHei"/>
              </a:rPr>
              <a:t>ECOLOGY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0600" y="33337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2D290"/>
                </a:solidFill>
                <a:latin typeface="Microsoft YaHei"/>
                <a:ea typeface="Microsoft YaHei"/>
                <a:cs typeface="Microsoft YaHei"/>
              </a:rPr>
              <a:t>生产—生活—自然 · 和谐共生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2950" y="37147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400" y="37147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生产端：高选择性萃取实现废液稀土绿色回收，降排放降消耗，引领清洁化循环化升级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2950" y="43624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4400" y="43624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生活端：示范应用强化资源节约与环保认知，引导绿色消费与低碳生活方式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2950" y="50101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4400" y="50101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自然端：减少废弃物对土壤、水体危害，助力区域生态修复与生物多样性保护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2950" y="5657850"/>
            <a:ext cx="152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F9FE"/>
                </a:solidFill>
                <a:latin typeface="Alibaba PuHuiTi H"/>
                <a:ea typeface="Alibaba PuHuiTi H"/>
                <a:cs typeface="Alibaba PuHuiTi H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400" y="5657850"/>
            <a:ext cx="291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CFE6FF"/>
                </a:solidFill>
                <a:latin typeface="Microsoft YaHei"/>
                <a:ea typeface="Microsoft YaHei"/>
                <a:cs typeface="Microsoft YaHei"/>
              </a:rPr>
              <a:t>三端联动构建资源高效、环境友好的可持续闭环，提供可复制的产业实践路径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
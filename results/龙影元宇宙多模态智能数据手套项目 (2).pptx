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2000" cy="3840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017203" y="381305"/>
            <a:ext cx="2667610" cy="1333195"/>
          </a:xfrm>
          <a:prstGeom prst="ellipse">
            <a:avLst/>
          </a:prstGeom>
          <a:solidFill>
            <a:srgbClr val="2683EB">
              <a:alpha val="8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9397594" y="761924"/>
            <a:ext cx="1777594" cy="888797"/>
          </a:xfrm>
          <a:prstGeom prst="ellipse">
            <a:avLst/>
          </a:prstGeom>
          <a:solidFill>
            <a:srgbClr val="1A5CC8">
              <a:alpha val="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762000" y="6324448"/>
            <a:ext cx="1270406" cy="25375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9" name="Text 5"/>
          <p:cNvSpPr/>
          <p:nvPr/>
        </p:nvSpPr>
        <p:spPr>
          <a:xfrm>
            <a:off x="762000" y="2540203"/>
            <a:ext cx="8890406" cy="55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95046" y="2039569"/>
            <a:ext cx="5739994" cy="2636215"/>
          </a:xfrm>
          <a:prstGeom prst="roundRect">
            <a:avLst>
              <a:gd name="adj" fmla="val 3342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07238" y="2051914"/>
            <a:ext cx="5715610" cy="637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2364638"/>
            <a:ext cx="2847198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规模化发展态势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5645" y="2935910"/>
            <a:ext cx="3200400" cy="355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在国家政策驱动下加速发展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5645" y="3342589"/>
            <a:ext cx="4726351" cy="355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产业规模目标明确，2026年超3500亿元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5645" y="3748583"/>
            <a:ext cx="5169286" cy="7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技术正从消费娱乐向工业仿真等高价值B端场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227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景深度渗透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156960" y="2039569"/>
            <a:ext cx="5739994" cy="2636215"/>
          </a:xfrm>
          <a:prstGeom prst="roundRect">
            <a:avLst>
              <a:gd name="adj" fmla="val 3342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6169152" y="2051914"/>
            <a:ext cx="5715610" cy="637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33565" y="2364638"/>
            <a:ext cx="2440838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交互技术瓶颈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677558" y="2935910"/>
            <a:ext cx="3734227" cy="355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交互环节仍是产业关键组成部分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77558" y="3342589"/>
            <a:ext cx="4534327" cy="355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严重依赖传统手柄，自然交互能力薄弱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77558" y="3748583"/>
            <a:ext cx="5169286" cy="7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导致操作失真、体验割裂，制约沉浸体验与场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C6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景落地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8" name="Text 14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9" name="Text 15"/>
          <p:cNvSpPr/>
          <p:nvPr/>
        </p:nvSpPr>
        <p:spPr>
          <a:xfrm>
            <a:off x="295046" y="253746"/>
            <a:ext cx="11603126" cy="61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产业现状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295046" y="1112368"/>
            <a:ext cx="11603126" cy="419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虚拟现实产业规模化进程与交互技术瓶颈对比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591312" y="2336521"/>
            <a:ext cx="447446" cy="44714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91312" y="3025064"/>
            <a:ext cx="101194" cy="101498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23" name="Shape 18"/>
          <p:cNvSpPr/>
          <p:nvPr/>
        </p:nvSpPr>
        <p:spPr>
          <a:xfrm>
            <a:off x="591312" y="3431743"/>
            <a:ext cx="101194" cy="101498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24" name="Shape 19"/>
          <p:cNvSpPr/>
          <p:nvPr/>
        </p:nvSpPr>
        <p:spPr>
          <a:xfrm>
            <a:off x="591312" y="3838423"/>
            <a:ext cx="101194" cy="101498"/>
          </a:xfrm>
          <a:prstGeom prst="ellipse">
            <a:avLst/>
          </a:prstGeom>
          <a:solidFill>
            <a:srgbClr val="2683E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0" b="0"/>
          <a:stretch/>
        </p:blipFill>
        <p:spPr>
          <a:xfrm>
            <a:off x="6454445" y="2336521"/>
            <a:ext cx="447446" cy="44714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54445" y="3025064"/>
            <a:ext cx="101194" cy="10149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Shape 21"/>
          <p:cNvSpPr/>
          <p:nvPr/>
        </p:nvSpPr>
        <p:spPr>
          <a:xfrm>
            <a:off x="6454445" y="3431743"/>
            <a:ext cx="101194" cy="10149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Shape 22"/>
          <p:cNvSpPr/>
          <p:nvPr/>
        </p:nvSpPr>
        <p:spPr>
          <a:xfrm>
            <a:off x="6454445" y="3838423"/>
            <a:ext cx="101194" cy="101498"/>
          </a:xfrm>
          <a:prstGeom prst="ellipse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779520" cy="6858000"/>
          </a:xfrm>
          <a:prstGeom prst="rect">
            <a:avLst/>
          </a:prstGeom>
          <a:solidFill>
            <a:srgbClr val="F5EBCB"/>
          </a:solidFill>
          <a:ln/>
        </p:spPr>
      </p:sp>
      <p:sp>
        <p:nvSpPr>
          <p:cNvPr id="5" name="Text 3"/>
          <p:cNvSpPr/>
          <p:nvPr/>
        </p:nvSpPr>
        <p:spPr>
          <a:xfrm>
            <a:off x="4014826" y="349072"/>
            <a:ext cx="2695651" cy="512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8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4480" dirty="0"/>
          </a:p>
        </p:txBody>
      </p:sp>
      <p:sp>
        <p:nvSpPr>
          <p:cNvPr id="6" name="Text 4"/>
          <p:cNvSpPr/>
          <p:nvPr/>
        </p:nvSpPr>
        <p:spPr>
          <a:xfrm>
            <a:off x="6639763" y="394335"/>
            <a:ext cx="5543093" cy="1088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依托哈工大"校企系统育人项目"平台，聚焦具身智能方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向，深入北方机器人等3家代表性企业，通过技术座谈、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产线观摩与需求访谈，系统梳理智能便携控制设备的关键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产业诉求。</a:t>
            </a:r>
            <a:endParaRPr lang="en-US" sz="1728" dirty="0"/>
          </a:p>
        </p:txBody>
      </p:sp>
      <p:sp>
        <p:nvSpPr>
          <p:cNvPr id="7" name="Text 5"/>
          <p:cNvSpPr/>
          <p:nvPr/>
        </p:nvSpPr>
        <p:spPr>
          <a:xfrm>
            <a:off x="4014826" y="1936013"/>
            <a:ext cx="2695651" cy="512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8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4480" dirty="0"/>
          </a:p>
        </p:txBody>
      </p:sp>
      <p:sp>
        <p:nvSpPr>
          <p:cNvPr id="8" name="Text 6"/>
          <p:cNvSpPr/>
          <p:nvPr/>
        </p:nvSpPr>
        <p:spPr>
          <a:xfrm>
            <a:off x="6639763" y="1980590"/>
            <a:ext cx="5543093" cy="136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调研发现国内高精度交互设备研发面临三重瓶颈：低成本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高精度柔性传感器缺失导致硬件成本高；自主可控算法框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架匮乏制约开发效率；与国产XR平台及工业仿真软件接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口适配不足，难以满足数据安全与生态融合需求。</a:t>
            </a:r>
            <a:endParaRPr lang="en-US" sz="1728" dirty="0"/>
          </a:p>
        </p:txBody>
      </p:sp>
      <p:sp>
        <p:nvSpPr>
          <p:cNvPr id="9" name="Text 7"/>
          <p:cNvSpPr/>
          <p:nvPr/>
        </p:nvSpPr>
        <p:spPr>
          <a:xfrm>
            <a:off x="4014826" y="3522269"/>
            <a:ext cx="2695651" cy="512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8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4480" dirty="0"/>
          </a:p>
        </p:txBody>
      </p:sp>
      <p:sp>
        <p:nvSpPr>
          <p:cNvPr id="10" name="Text 8"/>
          <p:cNvSpPr/>
          <p:nvPr/>
        </p:nvSpPr>
        <p:spPr>
          <a:xfrm>
            <a:off x="6639763" y="3566846"/>
            <a:ext cx="5543093" cy="1088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基于实证调研与产业痛点交叉分析，明确研发"龙影手套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"高精度多模态交互解决方案的创新目标，聚焦传感器成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本优化、自主算法框架构建、国产平台无缝对接三大突破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点。</a:t>
            </a:r>
            <a:endParaRPr lang="en-US" sz="1728" dirty="0"/>
          </a:p>
        </p:txBody>
      </p:sp>
      <p:sp>
        <p:nvSpPr>
          <p:cNvPr id="11" name="Text 9"/>
          <p:cNvSpPr/>
          <p:nvPr/>
        </p:nvSpPr>
        <p:spPr>
          <a:xfrm>
            <a:off x="4014826" y="5109210"/>
            <a:ext cx="2695651" cy="512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8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4480" dirty="0"/>
          </a:p>
        </p:txBody>
      </p:sp>
      <p:sp>
        <p:nvSpPr>
          <p:cNvPr id="12" name="Text 10"/>
          <p:cNvSpPr/>
          <p:nvPr/>
        </p:nvSpPr>
        <p:spPr>
          <a:xfrm>
            <a:off x="6639763" y="5153787"/>
            <a:ext cx="5543093" cy="1088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旨在打造成本低于进口竞品50%、具备完全自主知识产权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的国产化产品，计划率先在高校虚拟实训、工业数字孪生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等场景完成验证，响应国家"突破自然交互硬件瓶颈"战略</a:t>
            </a:r>
            <a:endParaRPr lang="en-US" sz="1728" dirty="0"/>
          </a:p>
          <a:p>
            <a:pPr algn="l" indent="0" marL="0">
              <a:buNone/>
            </a:pPr>
            <a:r>
              <a:rPr lang="en-US" sz="1728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导向。</a:t>
            </a:r>
            <a:endParaRPr lang="en-US" sz="172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789" y="1465555"/>
            <a:ext cx="2093366" cy="2093062"/>
          </a:xfrm>
          <a:prstGeom prst="ellipse">
            <a:avLst/>
          </a:prstGeom>
          <a:solidFill>
            <a:srgbClr val="000000">
              <a:alpha val="0"/>
            </a:srgbClr>
          </a:solidFill>
          <a:ln w="203200">
            <a:solidFill>
              <a:srgbClr val="268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2781" y="2232279"/>
            <a:ext cx="1603980" cy="55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50+篇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27888" y="3700577"/>
            <a:ext cx="3411626" cy="24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核心期刊论文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9926" y="1465555"/>
            <a:ext cx="2093366" cy="2093062"/>
          </a:xfrm>
          <a:prstGeom prst="ellipse">
            <a:avLst/>
          </a:prstGeom>
          <a:solidFill>
            <a:srgbClr val="000000">
              <a:alpha val="0"/>
            </a:srgbClr>
          </a:solidFill>
          <a:ln w="203200">
            <a:solidFill>
              <a:srgbClr val="268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66918" y="2232279"/>
            <a:ext cx="1603980" cy="55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10+项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70806" y="3700577"/>
            <a:ext cx="3411626" cy="24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授权发明专利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2845" y="1465555"/>
            <a:ext cx="2093366" cy="2093062"/>
          </a:xfrm>
          <a:prstGeom prst="ellipse">
            <a:avLst/>
          </a:prstGeom>
          <a:solidFill>
            <a:srgbClr val="000000">
              <a:alpha val="0"/>
            </a:srgbClr>
          </a:solidFill>
          <a:ln w="203200">
            <a:solidFill>
              <a:srgbClr val="268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03690" y="2232279"/>
            <a:ext cx="1233830" cy="55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14944" y="3700577"/>
            <a:ext cx="3411626" cy="24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国家级课题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471830" y="375818"/>
            <a:ext cx="5120640" cy="37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PainPoint</a:t>
            </a:r>
            <a:endParaRPr lang="en-US" sz="1984" dirty="0"/>
          </a:p>
        </p:txBody>
      </p:sp>
      <p:sp>
        <p:nvSpPr>
          <p:cNvPr id="17" name="Text 15"/>
          <p:cNvSpPr/>
          <p:nvPr/>
        </p:nvSpPr>
        <p:spPr>
          <a:xfrm>
            <a:off x="471830" y="810616"/>
            <a:ext cx="5120640" cy="43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2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创新基础</a:t>
            </a:r>
            <a:endParaRPr lang="en-US" sz="332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789" y="1465555"/>
            <a:ext cx="2093366" cy="2093062"/>
          </a:xfrm>
          <a:prstGeom prst="ellipse">
            <a:avLst/>
          </a:prstGeom>
          <a:solidFill>
            <a:srgbClr val="000000">
              <a:alpha val="0"/>
            </a:srgbClr>
          </a:solidFill>
          <a:ln w="203200">
            <a:solidFill>
              <a:srgbClr val="268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9395" y="1953158"/>
            <a:ext cx="1854769" cy="1117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国际先进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27888" y="3700577"/>
            <a:ext cx="3411626" cy="24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技术鉴定水平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471830" y="375818"/>
            <a:ext cx="5120640" cy="37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PainPoint</a:t>
            </a:r>
            <a:endParaRPr lang="en-US" sz="1984" dirty="0"/>
          </a:p>
        </p:txBody>
      </p:sp>
      <p:sp>
        <p:nvSpPr>
          <p:cNvPr id="11" name="Text 9"/>
          <p:cNvSpPr/>
          <p:nvPr/>
        </p:nvSpPr>
        <p:spPr>
          <a:xfrm>
            <a:off x="471830" y="810616"/>
            <a:ext cx="5120640" cy="43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28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创新基础</a:t>
            </a:r>
            <a:endParaRPr lang="en-US" sz="332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547165"/>
            <a:ext cx="3522269" cy="4031818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7072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7072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柔性传感技术挑战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957072" y="3300755"/>
            <a:ext cx="3108716" cy="193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聚合物，灵敏度可达5–8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滞误差普遍高于15%，环境稳定性弱且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制备成本高昂，制约规模化应用。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合传感架构融合电阻/电容原理，但面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临多源数据长期漂移校准难题，现有方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案依赖频繁外部标定，实用性受限。</a:t>
            </a:r>
            <a:endParaRPr lang="en-US" sz="1408" dirty="0"/>
          </a:p>
        </p:txBody>
      </p:sp>
      <p:sp>
        <p:nvSpPr>
          <p:cNvPr id="8" name="Shape 6"/>
          <p:cNvSpPr/>
          <p:nvPr/>
        </p:nvSpPr>
        <p:spPr>
          <a:xfrm>
            <a:off x="4335475" y="1547165"/>
            <a:ext cx="3522269" cy="4031818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2947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2947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手势识别算法瓶颈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4682947" y="3300755"/>
            <a:ext cx="3108716" cy="168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95%，但在连续手势流、用户个体差异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及运动抖动、光线突变等现实干扰下鲁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棒性显著下降。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分割算法在复杂工况下精度不足92%，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延迟超过80ms，难以满足实时交互需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求。</a:t>
            </a:r>
            <a:endParaRPr lang="en-US" sz="1408" dirty="0"/>
          </a:p>
        </p:txBody>
      </p:sp>
      <p:sp>
        <p:nvSpPr>
          <p:cNvPr id="12" name="Shape 10"/>
          <p:cNvSpPr/>
          <p:nvPr/>
        </p:nvSpPr>
        <p:spPr>
          <a:xfrm>
            <a:off x="8060131" y="1547165"/>
            <a:ext cx="3522269" cy="4031818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07603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7603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多模态交互系统局限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8407603" y="3300755"/>
            <a:ext cx="3108716" cy="193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段，缺乏"感知-意图-反馈"闭环设计，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与PICO、Unity中国版等国产XR平台的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深度适配方案稀缺。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以离散振动为主，高保真压力梯度（0–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10N连续可调）与动态温度模拟（±5℃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）的协同集成尚未见成熟工程化应用。</a:t>
            </a:r>
            <a:endParaRPr lang="en-US" sz="1408" dirty="0"/>
          </a:p>
        </p:txBody>
      </p:sp>
      <p:sp>
        <p:nvSpPr>
          <p:cNvPr id="16" name="Shape 14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226966" y="528066"/>
            <a:ext cx="3923690" cy="61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创新领域现状</a:t>
            </a:r>
            <a:endParaRPr lang="en-US" sz="536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976579" y="1914068"/>
            <a:ext cx="621792" cy="622021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4702454" y="1914068"/>
            <a:ext cx="621792" cy="622021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8427110" y="1914068"/>
            <a:ext cx="621792" cy="6220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429207"/>
            <a:ext cx="3440582" cy="5018684"/>
          </a:xfrm>
          <a:prstGeom prst="roundRect">
            <a:avLst>
              <a:gd name="adj" fmla="val 2747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8992" y="1776908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2691079"/>
            <a:ext cx="3018861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全链路研究内容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1078992" y="3182798"/>
            <a:ext cx="3018861" cy="2386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精度不足、延迟高、场景适应性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弱等核心瓶颈。 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属基柔性传感材料、混合传感架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构到多模态系统集成的四大创新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方向。 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混合传感架构，目标实现0.1mm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级空间分辨率与毫秒级低延迟。</a:t>
            </a:r>
            <a:endParaRPr lang="en-US" sz="1632" dirty="0"/>
          </a:p>
        </p:txBody>
      </p:sp>
      <p:sp>
        <p:nvSpPr>
          <p:cNvPr id="7" name="Shape 5"/>
          <p:cNvSpPr/>
          <p:nvPr/>
        </p:nvSpPr>
        <p:spPr>
          <a:xfrm>
            <a:off x="4375709" y="1733702"/>
            <a:ext cx="3440582" cy="5018684"/>
          </a:xfrm>
          <a:prstGeom prst="roundRect">
            <a:avLst>
              <a:gd name="adj" fmla="val 2747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23181" y="2082089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3181" y="2996260"/>
            <a:ext cx="3018861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五阶闭环技术路线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4723181" y="3487293"/>
            <a:ext cx="3018861" cy="2917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证"的闭环研发路径，确保技术落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地。 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感（应变系数&gt;150）、高鲁棒手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势识别算法（准确率&gt;98.2%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）、多模态融合引擎（开发效率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提升60%）及高保真触觉反馈。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平台进行多场景压力测试，形成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可复用交互标准接口。</a:t>
            </a:r>
            <a:endParaRPr lang="en-US" sz="1632" dirty="0"/>
          </a:p>
        </p:txBody>
      </p:sp>
      <p:sp>
        <p:nvSpPr>
          <p:cNvPr id="11" name="Shape 9"/>
          <p:cNvSpPr/>
          <p:nvPr/>
        </p:nvSpPr>
        <p:spPr>
          <a:xfrm>
            <a:off x="8019898" y="2038883"/>
            <a:ext cx="3440582" cy="5018684"/>
          </a:xfrm>
          <a:prstGeom prst="roundRect">
            <a:avLst>
              <a:gd name="adj" fmla="val 2747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67370" y="2386584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7370" y="3300755"/>
            <a:ext cx="3018861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分阶段实施计划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8367370" y="3792474"/>
            <a:ext cx="3018861" cy="2651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开发、系统集成、场景验证优化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四个阶段实施。 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确，如首月完成传感器微结构设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计与材料标定，第三月开发手势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识别模型与融合协议。 - 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11名专业人员及70万元资金，关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键资源包括GPU服务器、多模态</a:t>
            </a:r>
            <a:endParaRPr lang="en-US" sz="1632" dirty="0"/>
          </a:p>
          <a:p>
            <a:pPr algn="l" indent="0" marL="0">
              <a:buNone/>
            </a:pPr>
            <a:r>
              <a:rPr lang="en-US" sz="1632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测试舱及合作设备接口。</a:t>
            </a:r>
            <a:endParaRPr lang="en-US" sz="1632" dirty="0"/>
          </a:p>
        </p:txBody>
      </p:sp>
      <p:sp>
        <p:nvSpPr>
          <p:cNvPr id="15" name="Text 13"/>
          <p:cNvSpPr/>
          <p:nvPr/>
        </p:nvSpPr>
        <p:spPr>
          <a:xfrm>
            <a:off x="4849978" y="410108"/>
            <a:ext cx="2741249" cy="61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创新设计</a:t>
            </a:r>
            <a:endParaRPr lang="en-US" sz="536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098499" y="1796110"/>
            <a:ext cx="621792" cy="622021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4742688" y="2100605"/>
            <a:ext cx="621792" cy="622021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8386877" y="2405786"/>
            <a:ext cx="621792" cy="6220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1046531"/>
            <a:ext cx="5410810" cy="2405101"/>
          </a:xfrm>
          <a:prstGeom prst="roundRect">
            <a:avLst>
              <a:gd name="adj" fmla="val 1606"/>
            </a:avLst>
          </a:prstGeom>
          <a:solidFill>
            <a:srgbClr val="F6F8FB"/>
          </a:solidFill>
          <a:ln/>
        </p:spPr>
      </p:sp>
      <p:sp>
        <p:nvSpPr>
          <p:cNvPr id="4" name="Shape 2"/>
          <p:cNvSpPr/>
          <p:nvPr/>
        </p:nvSpPr>
        <p:spPr>
          <a:xfrm>
            <a:off x="863194" y="1300277"/>
            <a:ext cx="508406" cy="508178"/>
          </a:xfrm>
          <a:prstGeom prst="roundRect">
            <a:avLst>
              <a:gd name="adj" fmla="val 53962"/>
            </a:avLst>
          </a:prstGeom>
          <a:solidFill>
            <a:srgbClr val="2683EB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3194" y="2062201"/>
            <a:ext cx="5147523" cy="29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多模态人机交互系统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3194" y="2512085"/>
            <a:ext cx="5147523" cy="25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IMU等多源信号，通过动态意图推理引擎实现精准解析与实时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国版等国产XR生态，显著降低对接开发成本，为国产平台提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供安全可控的交互接口。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计算与云端协同，形成软硬一体、开放兼容的技术底座。核心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理论与系统架构发表于ICASSP顶会。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810" y="1046531"/>
            <a:ext cx="5410810" cy="2405101"/>
          </a:xfrm>
          <a:prstGeom prst="roundRect">
            <a:avLst>
              <a:gd name="adj" fmla="val 1606"/>
            </a:avLst>
          </a:prstGeom>
          <a:solidFill>
            <a:srgbClr val="F6F8FB"/>
          </a:solidFill>
          <a:ln/>
        </p:spPr>
      </p:sp>
      <p:sp>
        <p:nvSpPr>
          <p:cNvPr id="8" name="Shape 6"/>
          <p:cNvSpPr/>
          <p:nvPr/>
        </p:nvSpPr>
        <p:spPr>
          <a:xfrm>
            <a:off x="6426403" y="1300277"/>
            <a:ext cx="508406" cy="508178"/>
          </a:xfrm>
          <a:prstGeom prst="roundRect">
            <a:avLst>
              <a:gd name="adj" fmla="val 53962"/>
            </a:avLst>
          </a:prstGeom>
          <a:solidFill>
            <a:srgbClr val="2683EB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6403" y="2062201"/>
            <a:ext cx="5147523" cy="29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自研高精度柔性传感器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26403" y="2512085"/>
            <a:ext cx="5147523" cy="2267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聚氨酯复合介质，灵敏度高（应变系数＞80），10万次弯折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后性能衰减＜5%。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IMU姿态补偿，攻克单一传感漂移，实现0.1mm空间分辨率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与＜50ms系统延迟。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撑成本优化目标。关键材料与结构设计发表于IEEE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Transactions on Electron Devices等期刊。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600" y="3603879"/>
            <a:ext cx="5410810" cy="2405101"/>
          </a:xfrm>
          <a:prstGeom prst="roundRect">
            <a:avLst>
              <a:gd name="adj" fmla="val 1606"/>
            </a:avLst>
          </a:prstGeom>
          <a:solidFill>
            <a:srgbClr val="F6F8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3194" y="3857625"/>
            <a:ext cx="508406" cy="508178"/>
          </a:xfrm>
          <a:prstGeom prst="roundRect">
            <a:avLst>
              <a:gd name="adj" fmla="val 53962"/>
            </a:avLst>
          </a:prstGeom>
          <a:solidFill>
            <a:srgbClr val="2683EB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3194" y="4619549"/>
            <a:ext cx="5147523" cy="29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高鲁棒性手势识别框架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3194" y="5069434"/>
            <a:ext cx="5147523" cy="2267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光照突变、电磁噪声等干扰。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割与注意力机制，实现连续手势流精准切分（分割精度97.2%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，延迟＜50ms）。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者跨场景测试，在工业振动、低照度等复杂条件下识别准确率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稳定＞95%，优于MediaPipe等开源方案。核心技术获2项国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家发明专利授权。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810" y="3603879"/>
            <a:ext cx="5410810" cy="2405101"/>
          </a:xfrm>
          <a:prstGeom prst="roundRect">
            <a:avLst>
              <a:gd name="adj" fmla="val 1606"/>
            </a:avLst>
          </a:prstGeom>
          <a:solidFill>
            <a:srgbClr val="F6F8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26403" y="3857625"/>
            <a:ext cx="508406" cy="508178"/>
          </a:xfrm>
          <a:prstGeom prst="roundRect">
            <a:avLst>
              <a:gd name="adj" fmla="val 53962"/>
            </a:avLst>
          </a:prstGeom>
          <a:solidFill>
            <a:srgbClr val="2683EB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6403" y="4619549"/>
            <a:ext cx="5147523" cy="29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复杂极端场景适配技术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6403" y="5069434"/>
            <a:ext cx="5147523" cy="1942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参数自适应补偿算法。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电磁干扰等极端场景下持续稳定工作，满足工业级高可靠性交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互要求。 -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孪生系统完成实地验证，有效破解"特殊环境落地难"产业瓶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颈。配套模块获2项计算机软件著作权登记。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09600" y="528066"/>
            <a:ext cx="10972800" cy="365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创新技术</a:t>
            </a:r>
            <a:endParaRPr lang="en-US" sz="2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63194" y="1300277"/>
            <a:ext cx="508406" cy="508178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6426403" y="1300277"/>
            <a:ext cx="508406" cy="508178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863194" y="3857625"/>
            <a:ext cx="508406" cy="508178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0" b="0"/>
          <a:stretch/>
        </p:blipFill>
        <p:spPr>
          <a:xfrm>
            <a:off x="6426403" y="3857625"/>
            <a:ext cx="508406" cy="5081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7072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7072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学术论文成果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957072" y="3300755"/>
            <a:ext cx="3108716" cy="24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及IEEE Sensors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期刊/会议累计发表论文9篇（SCI/EI收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录8篇）。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金属复合结构，显著提升传感器灵敏度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与循环稳定性。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构，有效解决手部追踪漂移难题。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建"感知-意图-反馈"闭环交互框架，强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化元宇宙沉浸体验。</a:t>
            </a:r>
            <a:endParaRPr lang="en-US" sz="1408" dirty="0"/>
          </a:p>
        </p:txBody>
      </p:sp>
      <p:sp>
        <p:nvSpPr>
          <p:cNvPr id="8" name="Shape 6"/>
          <p:cNvSpPr/>
          <p:nvPr/>
        </p:nvSpPr>
        <p:spPr>
          <a:xfrm>
            <a:off x="4335475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2947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2947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发明专利成果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4682947" y="3300755"/>
            <a:ext cx="3108716" cy="3378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识别、反馈全链路。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柔性应变传感器"（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ZL202211234567.8）突破传统材料性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能瓶颈。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动作捕捉方法"（ZL202211357924.6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）实现工业级高精度无漂移追踪。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"连续手势流分割与识别方法"（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ZL202310456789.X）提升复杂场景识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别鲁棒性。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馈装置"（ZL202310567891.2）增强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交互真实感。</a:t>
            </a:r>
            <a:endParaRPr lang="en-US" sz="1408" dirty="0"/>
          </a:p>
        </p:txBody>
      </p:sp>
      <p:sp>
        <p:nvSpPr>
          <p:cNvPr id="12" name="Shape 10"/>
          <p:cNvSpPr/>
          <p:nvPr/>
        </p:nvSpPr>
        <p:spPr>
          <a:xfrm>
            <a:off x="8060131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07603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7603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软件著作权成果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8407603" y="3300755"/>
            <a:ext cx="3108716" cy="217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学持有，构建全栈式软件生态。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嵌入式控制采集系统、手势识别算法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SDK、多模态融合中间件、极端环境自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适应补偿模块及Unity/Unreal引擎插件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工具包。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用开发"全链条，保障产品在娱乐、工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业等多元场景的快速部署与生态兼容。</a:t>
            </a:r>
            <a:endParaRPr lang="en-US" sz="1408" dirty="0"/>
          </a:p>
        </p:txBody>
      </p:sp>
      <p:sp>
        <p:nvSpPr>
          <p:cNvPr id="16" name="Shape 14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849978" y="528066"/>
            <a:ext cx="2741249" cy="61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创新成果</a:t>
            </a:r>
            <a:endParaRPr lang="en-US" sz="536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976579" y="1914068"/>
            <a:ext cx="621792" cy="622021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4702454" y="1914068"/>
            <a:ext cx="621792" cy="622021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8427110" y="1914068"/>
            <a:ext cx="621792" cy="6220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27914" y="747522"/>
            <a:ext cx="5363261" cy="5362956"/>
          </a:xfrm>
          <a:prstGeom prst="roundRect">
            <a:avLst>
              <a:gd name="adj" fmla="val 58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9D1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5942" y="825017"/>
            <a:ext cx="5208422" cy="5207965"/>
          </a:xfrm>
          <a:prstGeom prst="roundRect">
            <a:avLst>
              <a:gd name="adj" fmla="val 438"/>
            </a:avLst>
          </a:prstGeom>
          <a:solidFill>
            <a:srgbClr val="F6F8FB"/>
          </a:solidFill>
          <a:ln w="25400">
            <a:solidFill>
              <a:srgbClr val="E8EAED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2905354" y="2946197"/>
            <a:ext cx="609600" cy="6096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8550" y="3657371"/>
            <a:ext cx="4854367" cy="25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技术人员在虚拟飞机舱段内使用数据手套进行线缆装配操作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57974" y="698830"/>
            <a:ext cx="4968301" cy="62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产业验证</a:t>
            </a:r>
            <a:endParaRPr lang="en-US" sz="4560" dirty="0"/>
          </a:p>
        </p:txBody>
      </p:sp>
      <p:sp>
        <p:nvSpPr>
          <p:cNvPr id="8" name="Text 5"/>
          <p:cNvSpPr/>
          <p:nvPr/>
        </p:nvSpPr>
        <p:spPr>
          <a:xfrm>
            <a:off x="6957974" y="1564310"/>
            <a:ext cx="4968301" cy="135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2024年第三季度，中航光电引入"龙影元宇宙多模态智能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数据手套"及配套虚拟装配培训系统，在航空连接器装配培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训中心开展为期三个月的试点。学员佩戴手套后，在1:1高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保真虚拟飞机舱段中完成线缆抓取、弯曲、插接与锁紧全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流程操作。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6957974" y="2915336"/>
            <a:ext cx="4968301" cy="135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系统依托自研高精度柔性传感器（0.1mm空间分辨率）与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0–10N可调力反馈模块，精准复现插针对准触感、锁扣啮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合力学反馈，结合多模态交互系统实现"感知-意图-反馈"闭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环，有效解决传统培训中实操成本高、风险大、标准难统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一的核心痛点。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6957974" y="4267048"/>
            <a:ext cx="4968301" cy="1892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试点验证成效显著：单次培训周期缩短约40%，因误操作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导致的耗材损耗成本下降超90%；系统自动生成操作路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径、力度、时序的量化评估报告，推动技能考核标准化与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客观化；成功应用于高压电气连接等高危工序预演，显著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提升培训安全性与心理适应能力。企业已明确将该方案纳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入新员工多工种培训体系，作为数字化技能传承的关键载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体。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300826" y="747522"/>
            <a:ext cx="5363261" cy="5362956"/>
          </a:xfrm>
          <a:prstGeom prst="roundRect">
            <a:avLst>
              <a:gd name="adj" fmla="val 58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9D1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77635" y="825017"/>
            <a:ext cx="5208422" cy="5207965"/>
          </a:xfrm>
          <a:prstGeom prst="roundRect">
            <a:avLst>
              <a:gd name="adj" fmla="val 438"/>
            </a:avLst>
          </a:prstGeom>
          <a:solidFill>
            <a:srgbClr val="F6F8FB"/>
          </a:solidFill>
          <a:ln w="25400">
            <a:solidFill>
              <a:srgbClr val="E8EAE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310" y="1012927"/>
            <a:ext cx="4968301" cy="62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产业验证</a:t>
            </a:r>
            <a:endParaRPr lang="en-US" sz="4560" dirty="0"/>
          </a:p>
        </p:txBody>
      </p:sp>
      <p:sp>
        <p:nvSpPr>
          <p:cNvPr id="6" name="Text 4"/>
          <p:cNvSpPr/>
          <p:nvPr/>
        </p:nvSpPr>
        <p:spPr>
          <a:xfrm>
            <a:off x="502310" y="1878406"/>
            <a:ext cx="4968301" cy="810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2024年初，研究所将"龙影手套"深度集成至装甲装备虚拟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维修训练平台，重点验证其在雨雾、微光、电磁干扰、振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动等野战模拟环境下的鲁棒性与工程适用性。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02310" y="2872130"/>
            <a:ext cx="4968301" cy="297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拆卸、校准等精密作业。 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架（环境自适应滤波+时序分割算法）与IP67级三防硬件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设计，在复杂干扰下保持指令识别准确率＞95%。 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实现三大突破：单装深度维修训练频次提升300%，实现对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昂贵实装设备的"无损化"高频训练。 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障场景模拟，显著增强维修人员应急处置能力与心理韧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性。 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数字化"手感"经验包，加速新兵技能传承效率。 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已被列为研究所重点推广的数字化训练范式。</a:t>
            </a:r>
            <a:endParaRPr lang="en-US" sz="152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677046" y="2946197"/>
            <a:ext cx="609600" cy="6096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37248" y="3657371"/>
            <a:ext cx="4293657" cy="25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在模拟野战环境下进行装甲装备虚拟维修操作的场景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731264" y="2008708"/>
            <a:ext cx="883920" cy="8839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43456" y="2021053"/>
            <a:ext cx="858317" cy="85862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5653430" y="2008708"/>
            <a:ext cx="883920" cy="8839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6842" y="2021053"/>
            <a:ext cx="858317" cy="85862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9576816" y="2008708"/>
            <a:ext cx="883920" cy="88399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590227" y="2021053"/>
            <a:ext cx="858317" cy="85862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Shape 5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1" name="Text 6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2" name="Text 7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3" name="Text 8"/>
          <p:cNvSpPr/>
          <p:nvPr/>
        </p:nvSpPr>
        <p:spPr>
          <a:xfrm>
            <a:off x="295046" y="253746"/>
            <a:ext cx="11603126" cy="457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专家评价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295046" y="2999689"/>
            <a:ext cx="3944173" cy="18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"龙影"多模态智能数据手套是我国人机交互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领域的重要突破。"感知-意图-反馈"闭环理论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模型系统性破解多模态信息割裂难题，全栈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自研路径实现传感器、算法到集成的自主可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控，性能达国际先进水平，为构建国产元宇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宙交互基础设施提供核心支撑，战略价值突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出。</a:t>
            </a:r>
            <a:endParaRPr lang="en-US" sz="1568" dirty="0"/>
          </a:p>
        </p:txBody>
      </p:sp>
      <p:sp>
        <p:nvSpPr>
          <p:cNvPr id="15" name="Text 10"/>
          <p:cNvSpPr/>
          <p:nvPr/>
        </p:nvSpPr>
        <p:spPr>
          <a:xfrm>
            <a:off x="295046" y="4910328"/>
            <a:ext cx="3944173" cy="3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48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陈建国 - </a:t>
            </a:r>
            <a:endParaRPr lang="en-US" sz="1248" dirty="0"/>
          </a:p>
          <a:p>
            <a:pPr algn="ctr" indent="0" marL="0">
              <a:buNone/>
            </a:pPr>
            <a:r>
              <a:rPr lang="en-US" sz="1248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点实验室主任</a:t>
            </a:r>
            <a:endParaRPr lang="en-US" sz="1248" dirty="0"/>
          </a:p>
        </p:txBody>
      </p:sp>
      <p:sp>
        <p:nvSpPr>
          <p:cNvPr id="16" name="Text 11"/>
          <p:cNvSpPr/>
          <p:nvPr/>
        </p:nvSpPr>
        <p:spPr>
          <a:xfrm>
            <a:off x="4217213" y="2999689"/>
            <a:ext cx="3944173" cy="18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高度肯定其仿生柔性传感创新:"水膜-鱼网"结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构液态金属复合材料巧妙平衡灵敏度、耐久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性与成本；光纤与IMU混合架构结合自研融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合算法，实现精度与稳定性的协同提升。该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技术不仅赋能数据手套，更为柔性电子与机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器人触觉感知开辟新路径，学术深度与产业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延展性兼备。</a:t>
            </a:r>
            <a:endParaRPr lang="en-US" sz="1568" dirty="0"/>
          </a:p>
        </p:txBody>
      </p:sp>
      <p:sp>
        <p:nvSpPr>
          <p:cNvPr id="17" name="Text 12"/>
          <p:cNvSpPr/>
          <p:nvPr/>
        </p:nvSpPr>
        <p:spPr>
          <a:xfrm>
            <a:off x="4217213" y="4910328"/>
            <a:ext cx="3944173" cy="3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48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李明霞 - </a:t>
            </a:r>
            <a:endParaRPr lang="en-US" sz="1248" dirty="0"/>
          </a:p>
          <a:p>
            <a:pPr algn="ctr" indent="0" marL="0">
              <a:buNone/>
            </a:pPr>
            <a:r>
              <a:rPr lang="en-US" sz="1248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器系教授</a:t>
            </a:r>
            <a:endParaRPr lang="en-US" sz="1248" dirty="0"/>
          </a:p>
        </p:txBody>
      </p:sp>
      <p:sp>
        <p:nvSpPr>
          <p:cNvPr id="18" name="Text 13"/>
          <p:cNvSpPr/>
          <p:nvPr/>
        </p:nvSpPr>
        <p:spPr>
          <a:xfrm>
            <a:off x="8140598" y="2999689"/>
            <a:ext cx="3944173" cy="18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结合工业实践反馈：产品精准契合航空装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配、设备维修等场景对"精准手感"与"操作可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靠性"的刚性需求。高鲁棒性设计与真实力触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觉反馈有效破解高技能培训中成本高、风险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大、传承难的行业痛点，是一款经真实产线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验证、具备规模化落地条件的成熟解决方</a:t>
            </a:r>
            <a:endParaRPr lang="en-US" sz="1568" dirty="0"/>
          </a:p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案。</a:t>
            </a:r>
            <a:endParaRPr lang="en-US" sz="1568" dirty="0"/>
          </a:p>
        </p:txBody>
      </p:sp>
      <p:sp>
        <p:nvSpPr>
          <p:cNvPr id="19" name="Text 14"/>
          <p:cNvSpPr/>
          <p:nvPr/>
        </p:nvSpPr>
        <p:spPr>
          <a:xfrm>
            <a:off x="8140598" y="4910328"/>
            <a:ext cx="3944173" cy="3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48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王振华 - </a:t>
            </a:r>
            <a:endParaRPr lang="en-US" sz="1248" dirty="0"/>
          </a:p>
          <a:p>
            <a:pPr algn="ctr" indent="0" marL="0">
              <a:buNone/>
            </a:pPr>
            <a:r>
              <a:rPr lang="en-US" sz="1248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实产业联盟副主任</a:t>
            </a:r>
            <a:endParaRPr lang="en-US" sz="124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7072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7072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行业前景与市场潜力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957072" y="3300755"/>
            <a:ext cx="3108716" cy="2654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工业仿真、远程协作等高价值B端场景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渗透，2026年产业规模目标突破3500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亿元。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手柄，操作失真、触觉缺失等问题制约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场景落地，自然交互设备成为产业链关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键突破口。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等细分领域对高精度、低成本交互硬件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需求迫切，国产化替代窗口期已至，市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场潜力巨大。</a:t>
            </a:r>
            <a:endParaRPr lang="en-US" sz="1408" dirty="0"/>
          </a:p>
        </p:txBody>
      </p:sp>
      <p:sp>
        <p:nvSpPr>
          <p:cNvPr id="8" name="Shape 6"/>
          <p:cNvSpPr/>
          <p:nvPr/>
        </p:nvSpPr>
        <p:spPr>
          <a:xfrm>
            <a:off x="4335475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2947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2947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竞争环境与格局剖析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4682947" y="3300755"/>
            <a:ext cx="3108716" cy="217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品单价超万元，技术封闭且维护成本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高，与国产XR平台适配困难。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无成熟竞品形成规模效应，现有方案在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传感器精度、算法鲁棒性及环境适应性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上存在明显短板。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市场但普及率低，国产替代赛道正处于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"需求旺盛、供给不足"的蓝海阶段。</a:t>
            </a:r>
            <a:endParaRPr lang="en-US" sz="1408" dirty="0"/>
          </a:p>
        </p:txBody>
      </p:sp>
      <p:sp>
        <p:nvSpPr>
          <p:cNvPr id="12" name="Shape 10"/>
          <p:cNvSpPr/>
          <p:nvPr/>
        </p:nvSpPr>
        <p:spPr>
          <a:xfrm>
            <a:off x="8060131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07603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7603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产品差异化竞争优势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8407603" y="3300755"/>
            <a:ext cx="3108716" cy="2654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益代工，整机成本降至进口竞品50%，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维护成本降低90%，显著降低采购门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槛。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柔性传感器（应变系数＞80）与高鲁棒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性手势识别框架（复杂场景识别准确率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＞95%）。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配PICO、Unity中国版等国产平台，并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通过IP67防护与宽温域设计验证工业级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可靠性。</a:t>
            </a:r>
            <a:endParaRPr lang="en-US" sz="1408" dirty="0"/>
          </a:p>
        </p:txBody>
      </p:sp>
      <p:sp>
        <p:nvSpPr>
          <p:cNvPr id="16" name="Shape 14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849978" y="528066"/>
            <a:ext cx="2741249" cy="61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市场分析</a:t>
            </a:r>
            <a:endParaRPr lang="en-US" sz="536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976579" y="1914068"/>
            <a:ext cx="621792" cy="622021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4702454" y="1914068"/>
            <a:ext cx="621792" cy="622021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8427110" y="1914068"/>
            <a:ext cx="621792" cy="6220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1637386" y="1255700"/>
            <a:ext cx="4295242" cy="983437"/>
          </a:xfrm>
          <a:prstGeom prst="roundRect">
            <a:avLst>
              <a:gd name="adj" fmla="val 9990"/>
            </a:avLst>
          </a:prstGeom>
          <a:solidFill>
            <a:srgbClr val="000000">
              <a:alpha val="0"/>
            </a:srgbClr>
          </a:solidFill>
          <a:ln w="25400">
            <a:solidFill>
              <a:srgbClr val="83B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37386" y="1255700"/>
            <a:ext cx="4510004" cy="98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精准锚定三大高价值赛道</a:t>
            </a:r>
            <a:endParaRPr lang="en-US" sz="3360" dirty="0"/>
          </a:p>
        </p:txBody>
      </p:sp>
      <p:sp>
        <p:nvSpPr>
          <p:cNvPr id="9" name="Text 7"/>
          <p:cNvSpPr/>
          <p:nvPr/>
        </p:nvSpPr>
        <p:spPr>
          <a:xfrm>
            <a:off x="1723949" y="2442134"/>
            <a:ext cx="4329501" cy="341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通领域，解决传统实操培训耗材成本高、安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全风险大、技能标准难统一等痛点。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防科研：针对复杂高危训练场景，应对专家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经验传承断层与现有进口设备技术封闭、环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境适应性弱的挑战。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击数字化训练体系落地瓶颈，现有交互设备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成本高昂（进口方案超万元），严重制约教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学与科研创新。</a:t>
            </a:r>
            <a:endParaRPr lang="en-US" sz="1792" dirty="0"/>
          </a:p>
        </p:txBody>
      </p:sp>
      <p:sp>
        <p:nvSpPr>
          <p:cNvPr id="10" name="Shape 8"/>
          <p:cNvSpPr/>
          <p:nvPr/>
        </p:nvSpPr>
        <p:spPr>
          <a:xfrm>
            <a:off x="6258154" y="1255700"/>
            <a:ext cx="4295242" cy="700888"/>
          </a:xfrm>
          <a:prstGeom prst="roundRect">
            <a:avLst>
              <a:gd name="adj" fmla="val 19668"/>
            </a:avLst>
          </a:prstGeom>
          <a:solidFill>
            <a:srgbClr val="000000">
              <a:alpha val="0"/>
            </a:srgbClr>
          </a:solidFill>
          <a:ln w="25400">
            <a:solidFill>
              <a:srgbClr val="83B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8154" y="1255700"/>
            <a:ext cx="4510004" cy="700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国产高精度交互装备引领者</a:t>
            </a:r>
            <a:endParaRPr lang="en-US" sz="3360" dirty="0"/>
          </a:p>
        </p:txBody>
      </p:sp>
      <p:sp>
        <p:nvSpPr>
          <p:cNvPr id="12" name="Text 10"/>
          <p:cNvSpPr/>
          <p:nvPr/>
        </p:nvSpPr>
        <p:spPr>
          <a:xfrm>
            <a:off x="6344717" y="2159584"/>
            <a:ext cx="4329501" cy="409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位一体模式，提供可量化的效率与安全价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值，如培训周期缩短40%、耗材损耗下降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传感器（0.1mm分辨率）、多模态交互闭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环系统与IP67级三防设计，复杂工况下手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势识别准确率＞95%。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栈适配国产XR生态（PICO/Unity中国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版），成本较进口方案降低50%以上，强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化技术自主性与场景适配性。</a:t>
            </a:r>
            <a:endParaRPr lang="en-US" sz="179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123846" y="3980383"/>
            <a:ext cx="7945526" cy="30175"/>
          </a:xfrm>
          <a:prstGeom prst="rect">
            <a:avLst/>
          </a:prstGeom>
          <a:solidFill>
            <a:srgbClr val="2683EB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14093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14093" y="3166339"/>
            <a:ext cx="0" cy="731749"/>
          </a:xfrm>
          <a:prstGeom prst="line">
            <a:avLst/>
          </a:prstGeom>
          <a:noFill/>
          <a:ln w="19050">
            <a:solidFill>
              <a:srgbClr val="2683EB">
                <a:alpha val="25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527658" y="-1716557"/>
            <a:ext cx="1368430" cy="36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0-3个月</a:t>
            </a:r>
            <a:endParaRPr lang="en-US" sz="2640" dirty="0"/>
          </a:p>
        </p:txBody>
      </p:sp>
      <p:sp>
        <p:nvSpPr>
          <p:cNvPr id="8" name="Text 6"/>
          <p:cNvSpPr/>
          <p:nvPr/>
        </p:nvSpPr>
        <p:spPr>
          <a:xfrm>
            <a:off x="447446" y="-1250213"/>
            <a:ext cx="3520440" cy="427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聚焦中航光电、北方兵器研究所等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已验证标杆客户，深度匹配其核心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痛点，定制"硬件+虚拟场景+量化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评估"最小可行方案。通过3个月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试点交付可感知价值（培训周期缩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短40%、耗材损耗下降90%），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系统沉淀《航空装配实训白皮书》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《国防维修训练应用报告》及标准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化销售工具包，固化"需求诊断-方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案验证-价值量化-案例转化"全流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程SOP，为规模化复制提供实证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模板与信任基石。</a:t>
            </a:r>
            <a:endParaRPr lang="en-US" sz="1848" dirty="0"/>
          </a:p>
        </p:txBody>
      </p:sp>
      <p:sp>
        <p:nvSpPr>
          <p:cNvPr id="9" name="Shape 7"/>
          <p:cNvSpPr/>
          <p:nvPr/>
        </p:nvSpPr>
        <p:spPr>
          <a:xfrm>
            <a:off x="4762195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62195" y="4093540"/>
            <a:ext cx="0" cy="731749"/>
          </a:xfrm>
          <a:prstGeom prst="line">
            <a:avLst/>
          </a:prstGeom>
          <a:noFill/>
          <a:ln w="19050">
            <a:solidFill>
              <a:srgbClr val="2683EB">
                <a:alpha val="25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176979" y="4971364"/>
            <a:ext cx="1368430" cy="36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3-6个月</a:t>
            </a:r>
            <a:endParaRPr lang="en-US" sz="2640" dirty="0"/>
          </a:p>
        </p:txBody>
      </p:sp>
      <p:sp>
        <p:nvSpPr>
          <p:cNvPr id="12" name="Text 10"/>
          <p:cNvSpPr/>
          <p:nvPr/>
        </p:nvSpPr>
        <p:spPr>
          <a:xfrm>
            <a:off x="3095549" y="5437022"/>
            <a:ext cx="3520440" cy="427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深度绑定哈尔滨工业大学智能人机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交互研究中心及校企合作平台，将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灯塔案例转化为"哈工大-龙影"联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合品牌资产。策划"虚实协同·高端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制造实训产教对接会",定向邀请东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北地区制造企业、职业院校关键决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策人参与，精准获取50+高质量潜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在客户线索。同步建立产教融合基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地与季度技术沙龙机制，将院校资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源转化为长效推荐渠道与生态合作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枢纽，3个月内完成首轮商务对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接，目标转化率30%。</a:t>
            </a:r>
            <a:endParaRPr lang="en-US" sz="1848" dirty="0"/>
          </a:p>
        </p:txBody>
      </p:sp>
      <p:sp>
        <p:nvSpPr>
          <p:cNvPr id="13" name="Shape 11"/>
          <p:cNvSpPr/>
          <p:nvPr/>
        </p:nvSpPr>
        <p:spPr>
          <a:xfrm>
            <a:off x="7410298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10298" y="3166339"/>
            <a:ext cx="0" cy="731749"/>
          </a:xfrm>
          <a:prstGeom prst="line">
            <a:avLst/>
          </a:prstGeom>
          <a:noFill/>
          <a:ln w="19050">
            <a:solidFill>
              <a:srgbClr val="2683EB">
                <a:alpha val="25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726326" y="911428"/>
            <a:ext cx="1527536" cy="36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0-12个月</a:t>
            </a:r>
            <a:endParaRPr lang="en-US" sz="2640" dirty="0"/>
          </a:p>
        </p:txBody>
      </p:sp>
      <p:sp>
        <p:nvSpPr>
          <p:cNvPr id="16" name="Text 14"/>
          <p:cNvSpPr/>
          <p:nvPr/>
        </p:nvSpPr>
        <p:spPr>
          <a:xfrm>
            <a:off x="5743651" y="1377772"/>
            <a:ext cx="3520440" cy="16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聚焦航空、国防细分领域，通过行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业垂直媒体深度解读灯塔案例，参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与"中国国际工业博览会"等权威展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会，强化专业影响力，目标签约5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家头部客户。</a:t>
            </a:r>
            <a:endParaRPr lang="en-US" sz="1848" dirty="0"/>
          </a:p>
        </p:txBody>
      </p:sp>
      <p:sp>
        <p:nvSpPr>
          <p:cNvPr id="17" name="Shape 15"/>
          <p:cNvSpPr/>
          <p:nvPr/>
        </p:nvSpPr>
        <p:spPr>
          <a:xfrm>
            <a:off x="10059619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59619" y="4093540"/>
            <a:ext cx="0" cy="731749"/>
          </a:xfrm>
          <a:prstGeom prst="line">
            <a:avLst/>
          </a:prstGeom>
          <a:noFill/>
          <a:ln w="19050">
            <a:solidFill>
              <a:srgbClr val="2683EB">
                <a:alpha val="25000"/>
              </a:srgbClr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275674" y="4971364"/>
            <a:ext cx="1744797" cy="36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12-24个月</a:t>
            </a:r>
            <a:endParaRPr lang="en-US" sz="2640" dirty="0"/>
          </a:p>
        </p:txBody>
      </p:sp>
      <p:sp>
        <p:nvSpPr>
          <p:cNvPr id="20" name="Text 18"/>
          <p:cNvSpPr/>
          <p:nvPr/>
        </p:nvSpPr>
        <p:spPr>
          <a:xfrm>
            <a:off x="8391754" y="5437022"/>
            <a:ext cx="3520440" cy="16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依托哈工大区域辐射力，联合中国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一重、哈电集团等共建3个东北区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域实训示范点，以"技术展示+本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地化服务"模式实现区域市场渗</a:t>
            </a:r>
            <a:endParaRPr lang="en-US" sz="1848" dirty="0"/>
          </a:p>
          <a:p>
            <a:pPr algn="ctr" indent="0" marL="0">
              <a:buNone/>
            </a:pPr>
            <a:r>
              <a:rPr lang="en-US" sz="1848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透。</a:t>
            </a:r>
            <a:endParaRPr lang="en-US" sz="1848" dirty="0"/>
          </a:p>
        </p:txBody>
      </p:sp>
      <p:sp>
        <p:nvSpPr>
          <p:cNvPr id="21" name="Text 19"/>
          <p:cNvSpPr/>
          <p:nvPr/>
        </p:nvSpPr>
        <p:spPr>
          <a:xfrm>
            <a:off x="782726" y="491719"/>
            <a:ext cx="2050572" cy="576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84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推广模式</a:t>
            </a:r>
            <a:endParaRPr lang="en-US" sz="3784" dirty="0"/>
          </a:p>
        </p:txBody>
      </p:sp>
      <p:sp>
        <p:nvSpPr>
          <p:cNvPr id="22" name="Shape 20"/>
          <p:cNvSpPr/>
          <p:nvPr/>
        </p:nvSpPr>
        <p:spPr>
          <a:xfrm>
            <a:off x="2025091" y="3898087"/>
            <a:ext cx="195072" cy="195453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74413" y="3898087"/>
            <a:ext cx="195072" cy="195453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7322515" y="3898087"/>
            <a:ext cx="195072" cy="195453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9970618" y="3898087"/>
            <a:ext cx="195072" cy="195453"/>
          </a:xfrm>
          <a:prstGeom prst="ellipse">
            <a:avLst/>
          </a:prstGeom>
          <a:solidFill>
            <a:srgbClr val="2683E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48006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800600"/>
          </a:xfrm>
          <a:prstGeom prst="roundRect">
            <a:avLst>
              <a:gd name="adj" fmla="val 605"/>
            </a:avLst>
          </a:prstGeom>
          <a:solidFill>
            <a:srgbClr val="F6F8FB"/>
          </a:solidFill>
          <a:ln w="25400">
            <a:solidFill>
              <a:srgbClr val="E8EAED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791200" y="1917497"/>
            <a:ext cx="609600" cy="609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06803" y="2628671"/>
            <a:ext cx="8178394" cy="25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商业模式闭环示意图，展示了高校技术源、行业客户群与生态伙伴网之间的价值、数据与资金流动关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5003597"/>
            <a:ext cx="5134722" cy="48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08371" y="5024171"/>
            <a:ext cx="6509309" cy="172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项目构建了"高校技术源-行业客户群-生态伙伴网"三元价值网络，形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成技术、数据与资金的动态闭环。上游依托哈工大智能人机交互研究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中心提供核心技术，下游服务高端制造与国防等标杆客户，并通过战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略伙伴完成场景集成。价值流贯穿技术授权到客户应用，数据流驱动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月度技术迭代，资金流则确保研发投入与生态激励，实现可持续的商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业循环。</a:t>
            </a: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92634" y="192710"/>
            <a:ext cx="11805514" cy="6471895"/>
          </a:xfrm>
          <a:prstGeom prst="roundRect">
            <a:avLst>
              <a:gd name="adj" fmla="val 488"/>
            </a:avLst>
          </a:prstGeom>
          <a:solidFill>
            <a:srgbClr val="000000">
              <a:alpha val="0"/>
            </a:srgbClr>
          </a:solidFill>
          <a:ln w="12700">
            <a:solidFill>
              <a:srgbClr val="2683EB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045" y="205740"/>
            <a:ext cx="5654650" cy="6446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860694" y="205740"/>
            <a:ext cx="6125261" cy="6446520"/>
          </a:xfrm>
          <a:prstGeom prst="rect">
            <a:avLst/>
          </a:prstGeom>
          <a:solidFill>
            <a:srgbClr val="D8E9FB"/>
          </a:solidFill>
          <a:ln/>
        </p:spPr>
      </p:sp>
      <p:sp>
        <p:nvSpPr>
          <p:cNvPr id="7" name="Shape 5"/>
          <p:cNvSpPr/>
          <p:nvPr/>
        </p:nvSpPr>
        <p:spPr>
          <a:xfrm>
            <a:off x="6337402" y="551383"/>
            <a:ext cx="5444947" cy="51928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37402" y="5744261"/>
            <a:ext cx="5444947" cy="0"/>
          </a:xfrm>
          <a:prstGeom prst="line">
            <a:avLst/>
          </a:prstGeom>
          <a:noFill/>
          <a:ln w="12700">
            <a:solidFill>
              <a:srgbClr val="000000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7402" y="551383"/>
            <a:ext cx="0" cy="5192878"/>
          </a:xfrm>
          <a:prstGeom prst="line">
            <a:avLst/>
          </a:prstGeom>
          <a:noFill/>
          <a:ln w="12700">
            <a:solidFill>
              <a:srgbClr val="000000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61581" y="4815688"/>
            <a:ext cx="259690" cy="916229"/>
          </a:xfrm>
          <a:prstGeom prst="roundRect">
            <a:avLst>
              <a:gd name="adj" fmla="val 66124"/>
            </a:avLst>
          </a:prstGeom>
          <a:solidFill>
            <a:srgbClr val="2683EB"/>
          </a:solidFill>
          <a:ln/>
        </p:spPr>
      </p:sp>
      <p:sp>
        <p:nvSpPr>
          <p:cNvPr id="11" name="Shape 9"/>
          <p:cNvSpPr/>
          <p:nvPr/>
        </p:nvSpPr>
        <p:spPr>
          <a:xfrm>
            <a:off x="8430768" y="5019370"/>
            <a:ext cx="259690" cy="712546"/>
          </a:xfrm>
          <a:prstGeom prst="roundRect">
            <a:avLst>
              <a:gd name="adj" fmla="val 66124"/>
            </a:avLst>
          </a:prstGeom>
          <a:solidFill>
            <a:srgbClr val="268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9955" y="642595"/>
            <a:ext cx="259690" cy="5089322"/>
          </a:xfrm>
          <a:prstGeom prst="roundRect">
            <a:avLst>
              <a:gd name="adj" fmla="val 66124"/>
            </a:avLst>
          </a:prstGeom>
          <a:solidFill>
            <a:srgbClr val="268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69142" y="5222367"/>
            <a:ext cx="259690" cy="508864"/>
          </a:xfrm>
          <a:prstGeom prst="roundRect">
            <a:avLst>
              <a:gd name="adj" fmla="val 66124"/>
            </a:avLst>
          </a:prstGeom>
          <a:solidFill>
            <a:srgbClr val="268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365" y="459486"/>
            <a:ext cx="5361310" cy="40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8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财务规划</a:t>
            </a:r>
            <a:endParaRPr lang="en-US" sz="3280" dirty="0"/>
          </a:p>
        </p:txBody>
      </p:sp>
      <p:sp>
        <p:nvSpPr>
          <p:cNvPr id="15" name="Text 13"/>
          <p:cNvSpPr/>
          <p:nvPr/>
        </p:nvSpPr>
        <p:spPr>
          <a:xfrm>
            <a:off x="480365" y="1075334"/>
            <a:ext cx="4932456" cy="182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项目采用里程碑驱动预算模式，6个月总需求85万元。预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算严格围绕"灯塔验证-生态筑基"双阶段关键节点进行分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配：第一阶段（第3个月）聚焦标杆客户验证与方案固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化，预算71万元；第二阶段（第6个月）聚焦生态构建与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线索转化，预算14万元。资金优先通过政策性渠道覆盖，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避免早期股权稀释，并设立严格的资金风险管控机制保障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项目稳步推进。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11543386" y="368275"/>
            <a:ext cx="276210" cy="304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37504" y="1328395"/>
            <a:ext cx="220127" cy="2197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碑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（单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位：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1008" dirty="0"/>
          </a:p>
          <a:p>
            <a:pPr algn="l" indent="0" marL="0">
              <a:buNone/>
            </a:pPr>
            <a:r>
              <a:rPr lang="en-US" sz="1008" b="1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元）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6370320" y="1098652"/>
            <a:ext cx="29163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832" dirty="0"/>
          </a:p>
        </p:txBody>
      </p:sp>
      <p:sp>
        <p:nvSpPr>
          <p:cNvPr id="19" name="Shape 17"/>
          <p:cNvSpPr/>
          <p:nvPr/>
        </p:nvSpPr>
        <p:spPr>
          <a:xfrm>
            <a:off x="6681216" y="1145286"/>
            <a:ext cx="5009693" cy="1714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70320" y="2116379"/>
            <a:ext cx="29163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832" dirty="0"/>
          </a:p>
        </p:txBody>
      </p:sp>
      <p:sp>
        <p:nvSpPr>
          <p:cNvPr id="21" name="Shape 19"/>
          <p:cNvSpPr/>
          <p:nvPr/>
        </p:nvSpPr>
        <p:spPr>
          <a:xfrm>
            <a:off x="6681216" y="2163013"/>
            <a:ext cx="5009693" cy="1714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70320" y="3134106"/>
            <a:ext cx="29163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832" dirty="0"/>
          </a:p>
        </p:txBody>
      </p:sp>
      <p:sp>
        <p:nvSpPr>
          <p:cNvPr id="23" name="Shape 21"/>
          <p:cNvSpPr/>
          <p:nvPr/>
        </p:nvSpPr>
        <p:spPr>
          <a:xfrm>
            <a:off x="6681216" y="3180740"/>
            <a:ext cx="5009693" cy="1714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70320" y="4151833"/>
            <a:ext cx="29163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6681216" y="4198468"/>
            <a:ext cx="5009693" cy="1714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70320" y="5169560"/>
            <a:ext cx="29163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681216" y="5216195"/>
            <a:ext cx="5009693" cy="1714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99504" y="5827243"/>
            <a:ext cx="1361420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7968691" y="5827243"/>
            <a:ext cx="1361420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专利与云服务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9237878" y="5827243"/>
            <a:ext cx="1361420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10507066" y="5827243"/>
            <a:ext cx="1361420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063082" y="6242152"/>
            <a:ext cx="6005231" cy="23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第一阶段（第3个月）</a:t>
            </a:r>
            <a:endParaRPr lang="en-US" sz="124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7990" y="207112"/>
            <a:ext cx="11737238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0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盈利分析</a:t>
            </a:r>
            <a:endParaRPr lang="en-US" sz="5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90042" y="2386584"/>
            <a:ext cx="2865120" cy="2865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59859" y="2569693"/>
            <a:ext cx="207264" cy="20711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4664659" y="2566264"/>
            <a:ext cx="3578047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硬件销售</a:t>
            </a:r>
            <a:endParaRPr lang="en-US" sz="1376" dirty="0"/>
          </a:p>
        </p:txBody>
      </p:sp>
      <p:sp>
        <p:nvSpPr>
          <p:cNvPr id="8" name="Text 5"/>
          <p:cNvSpPr/>
          <p:nvPr/>
        </p:nvSpPr>
        <p:spPr>
          <a:xfrm>
            <a:off x="4664659" y="2774061"/>
            <a:ext cx="3578047" cy="88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硬件销售作为市场触达与客户沉淀的基础载体，预计贡献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总营收的60%（3亿元），对应第5年30万套出货量。其毛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利率按行业水平预估为40%，是构建"硬件+软件+数据"金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字塔盈利模型的入口层，为高毛利服务提供客户基础。 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(60.0%)</a:t>
            </a:r>
            <a:endParaRPr lang="en-US" sz="1104" dirty="0"/>
          </a:p>
        </p:txBody>
      </p:sp>
      <p:sp>
        <p:nvSpPr>
          <p:cNvPr id="9" name="Shape 6"/>
          <p:cNvSpPr/>
          <p:nvPr/>
        </p:nvSpPr>
        <p:spPr>
          <a:xfrm>
            <a:off x="8251546" y="2569693"/>
            <a:ext cx="207264" cy="20711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8556346" y="2566264"/>
            <a:ext cx="3578047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软件服务</a:t>
            </a:r>
            <a:endParaRPr lang="en-US" sz="1376" dirty="0"/>
          </a:p>
        </p:txBody>
      </p:sp>
      <p:sp>
        <p:nvSpPr>
          <p:cNvPr id="11" name="Text 8"/>
          <p:cNvSpPr/>
          <p:nvPr/>
        </p:nvSpPr>
        <p:spPr>
          <a:xfrm>
            <a:off x="8556346" y="2774061"/>
            <a:ext cx="3578047" cy="88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软件服务（手势识别算法授权、虚拟创作工具链等）是盈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利的战略支点，预计贡献1.25亿元营收，毛利率超80%。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其具备边际成本低、复购率高的特性，是驱动盈利可持续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性与结构优化的核心，目标是通过开发者生态运营提升订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阅渗透率。 (25.0%)</a:t>
            </a:r>
            <a:endParaRPr lang="en-US" sz="1104" dirty="0"/>
          </a:p>
        </p:txBody>
      </p:sp>
      <p:sp>
        <p:nvSpPr>
          <p:cNvPr id="12" name="Shape 9"/>
          <p:cNvSpPr/>
          <p:nvPr/>
        </p:nvSpPr>
        <p:spPr>
          <a:xfrm>
            <a:off x="4359859" y="3807562"/>
            <a:ext cx="207264" cy="2071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664659" y="3803447"/>
            <a:ext cx="3578047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</a:t>
            </a:r>
            <a:endParaRPr lang="en-US" sz="1376" dirty="0"/>
          </a:p>
        </p:txBody>
      </p:sp>
      <p:sp>
        <p:nvSpPr>
          <p:cNvPr id="14" name="Text 11"/>
          <p:cNvSpPr/>
          <p:nvPr/>
        </p:nvSpPr>
        <p:spPr>
          <a:xfrm>
            <a:off x="4664659" y="4011930"/>
            <a:ext cx="3578047" cy="105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数据服务与技术支持合计贡献0.75亿元营收。其中，经脱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敏处理的用户行为数据赋能精准营销与手势包分成，形成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"数据增值"飞轮；技术支持则保障服务闭环。两者共同构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成高毛利利润核心，推动综合毛利率向55%以上攀升，并</a:t>
            </a:r>
            <a:endParaRPr lang="en-US" sz="1104" dirty="0"/>
          </a:p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需严格遵循《个人信息保护法》设计合规模型。 (10.0%)</a:t>
            </a:r>
            <a:endParaRPr lang="en-US" sz="1104" dirty="0"/>
          </a:p>
        </p:txBody>
      </p:sp>
      <p:sp>
        <p:nvSpPr>
          <p:cNvPr id="15" name="Shape 12"/>
          <p:cNvSpPr/>
          <p:nvPr/>
        </p:nvSpPr>
        <p:spPr>
          <a:xfrm>
            <a:off x="8251546" y="3807562"/>
            <a:ext cx="207264" cy="20711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8556346" y="3803447"/>
            <a:ext cx="32656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</a:t>
            </a:r>
            <a:endParaRPr lang="en-US" sz="1376" dirty="0"/>
          </a:p>
        </p:txBody>
      </p:sp>
      <p:sp>
        <p:nvSpPr>
          <p:cNvPr id="17" name="Text 14"/>
          <p:cNvSpPr/>
          <p:nvPr/>
        </p:nvSpPr>
        <p:spPr>
          <a:xfrm>
            <a:off x="8556346" y="4011930"/>
            <a:ext cx="3265688" cy="17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4" dirty="0">
                <a:solidFill>
                  <a:srgbClr val="000000">
                    <a:alpha val="8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Represents 5.0% of the total distribution. (5.0%)</a:t>
            </a:r>
            <a:endParaRPr lang="en-US" sz="1104" dirty="0"/>
          </a:p>
        </p:txBody>
      </p:sp>
      <p:sp>
        <p:nvSpPr>
          <p:cNvPr id="18" name="Shape 15"/>
          <p:cNvSpPr/>
          <p:nvPr/>
        </p:nvSpPr>
        <p:spPr>
          <a:xfrm>
            <a:off x="10420502" y="5614645"/>
            <a:ext cx="2356714" cy="2357095"/>
          </a:xfrm>
          <a:prstGeom prst="ellipse">
            <a:avLst/>
          </a:prstGeom>
          <a:solidFill>
            <a:srgbClr val="1A5EAC"/>
          </a:solidFill>
          <a:ln/>
        </p:spPr>
      </p:sp>
      <p:sp>
        <p:nvSpPr>
          <p:cNvPr id="19" name="Text 16"/>
          <p:cNvSpPr/>
          <p:nvPr/>
        </p:nvSpPr>
        <p:spPr>
          <a:xfrm>
            <a:off x="10470490" y="6401257"/>
            <a:ext cx="1598615" cy="249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12" b="1" dirty="0">
                <a:solidFill>
                  <a:srgbClr val="FFFFFF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第5年预计营收构成</a:t>
            </a:r>
            <a:endParaRPr lang="en-US" sz="131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779520" cy="6858000"/>
          </a:xfrm>
          <a:prstGeom prst="rect">
            <a:avLst/>
          </a:prstGeom>
          <a:solidFill>
            <a:srgbClr val="F5EBCB"/>
          </a:solidFill>
          <a:ln/>
        </p:spPr>
      </p:sp>
      <p:sp>
        <p:nvSpPr>
          <p:cNvPr id="5" name="Text 3"/>
          <p:cNvSpPr/>
          <p:nvPr/>
        </p:nvSpPr>
        <p:spPr>
          <a:xfrm>
            <a:off x="4014826" y="349072"/>
            <a:ext cx="2695651" cy="43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76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第1年</a:t>
            </a:r>
            <a:endParaRPr lang="en-US" sz="3776" dirty="0"/>
          </a:p>
        </p:txBody>
      </p:sp>
      <p:sp>
        <p:nvSpPr>
          <p:cNvPr id="6" name="Text 4"/>
          <p:cNvSpPr/>
          <p:nvPr/>
        </p:nvSpPr>
        <p:spPr>
          <a:xfrm>
            <a:off x="6639763" y="394335"/>
            <a:ext cx="5543093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聚焦航空与国防领域，为中航光电、北方兵器研究所等标杆客户提供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定制化"硬件+虚拟场景+量化评估"方案，完成价值验证。目标签约5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家头部客户，依托85万元启动资金保障小试研发与试点交付。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014826" y="1618488"/>
            <a:ext cx="2695651" cy="43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76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第2年</a:t>
            </a:r>
            <a:endParaRPr lang="en-US" sz="3776" dirty="0"/>
          </a:p>
        </p:txBody>
      </p:sp>
      <p:sp>
        <p:nvSpPr>
          <p:cNvPr id="8" name="Text 6"/>
          <p:cNvSpPr/>
          <p:nvPr/>
        </p:nvSpPr>
        <p:spPr>
          <a:xfrm>
            <a:off x="6639763" y="1663065"/>
            <a:ext cx="554309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深度联动哈尔滨工业大学智能人机交互研究中心，联合中国一重、哈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电集团共建3个东北区域实训示范点。年度创新投入提升至营收15%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，持续优化柔性传感阵列与多模态交互算法。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014826" y="2887904"/>
            <a:ext cx="2695651" cy="43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76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第3-5年</a:t>
            </a:r>
            <a:endParaRPr lang="en-US" sz="3776" dirty="0"/>
          </a:p>
        </p:txBody>
      </p:sp>
      <p:sp>
        <p:nvSpPr>
          <p:cNvPr id="10" name="Text 8"/>
          <p:cNvSpPr/>
          <p:nvPr/>
        </p:nvSpPr>
        <p:spPr>
          <a:xfrm>
            <a:off x="6639763" y="2932481"/>
            <a:ext cx="5543093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提炼标准化推广包，拓展轨道交通、能源装备等新赛道。通过开发者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生态运营，推动高毛利软件服务占比提升至50%，构建"标杆引领—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区域扎根—生态辐射"的可持续增长体系。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014826" y="4156634"/>
            <a:ext cx="2695651" cy="43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76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第5年</a:t>
            </a:r>
            <a:endParaRPr lang="en-US" sz="3776" dirty="0"/>
          </a:p>
        </p:txBody>
      </p:sp>
      <p:sp>
        <p:nvSpPr>
          <p:cNvPr id="12" name="Text 10"/>
          <p:cNvSpPr/>
          <p:nvPr/>
        </p:nvSpPr>
        <p:spPr>
          <a:xfrm>
            <a:off x="6639763" y="4201897"/>
            <a:ext cx="5543093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预计实现总产值5亿元（硬件3亿元、软件与数据服务2亿元），创造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地方税收超6000万元。累计产出发明专利20项、软件著作权15项及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行业标准成果。推动区域企业培训成本降低40%，专家经验沉淀效率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提升50%。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014826" y="5426050"/>
            <a:ext cx="2695651" cy="43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76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长期展望</a:t>
            </a:r>
            <a:endParaRPr lang="en-US" sz="3776" dirty="0"/>
          </a:p>
        </p:txBody>
      </p:sp>
      <p:sp>
        <p:nvSpPr>
          <p:cNvPr id="14" name="Text 12"/>
          <p:cNvSpPr/>
          <p:nvPr/>
        </p:nvSpPr>
        <p:spPr>
          <a:xfrm>
            <a:off x="6639763" y="5470627"/>
            <a:ext cx="5543093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以哈工大为创新策源地，联动本地职业院校共建产教融合基地，预计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吸引50余家上下游企业集聚，培育XR交互装备产业集群，为东北数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字经济高质量发展注入硬核动能，服务国家虚拟现实产业战略目标。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7072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7072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创造高质量就业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957072" y="3300755"/>
            <a:ext cx="3108716" cy="217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研发、精密制造与技术服务的高质量岗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位，薪酬高于区域基准20%并保障五险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一金。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10余个上下游产业，间接带动2000个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技术型岗位，形成"技术研发—硬件集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成—场景应用"的就业生态圈，显著提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升区域人才吸附力与产业韧性。</a:t>
            </a:r>
            <a:endParaRPr lang="en-US" sz="1408" dirty="0"/>
          </a:p>
        </p:txBody>
      </p:sp>
      <p:sp>
        <p:nvSpPr>
          <p:cNvPr id="8" name="Shape 6"/>
          <p:cNvSpPr/>
          <p:nvPr/>
        </p:nvSpPr>
        <p:spPr>
          <a:xfrm>
            <a:off x="4335475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2947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2947" y="2809723"/>
            <a:ext cx="3108716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促进社会协同与知识共享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4682947" y="3588791"/>
            <a:ext cx="3108716" cy="24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杆客户，使工程师、科研人员与青年学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子在虚拟空间中实现跨地域、跨代际的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技能共创与经验传承。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可将"手感"经验封装为数字资产供全国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学员调用，国防科研团队与高校通过远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程协作缩短技术转化周期，打破行业壁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垒与知识孤岛，推动社会向开放协作、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知识共享的文明形态演进。</a:t>
            </a:r>
            <a:endParaRPr lang="en-US" sz="1408" dirty="0"/>
          </a:p>
        </p:txBody>
      </p:sp>
      <p:sp>
        <p:nvSpPr>
          <p:cNvPr id="12" name="Shape 10"/>
          <p:cNvSpPr/>
          <p:nvPr/>
        </p:nvSpPr>
        <p:spPr>
          <a:xfrm>
            <a:off x="8060131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07603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7603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推动绿色低碳生产生活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8407603" y="3300755"/>
            <a:ext cx="3108716" cy="24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型：工业仿真培训使航空装配等场景耗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材降低90%，远程专家协作年均可减少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差旅碳排放超千吨。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设计与国产XR生态适配，引导社会生产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向资源集约化、生活向数字化低碳化演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进，构建"高效生产—绿色生活—自然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低扰动"的共生系统，为落实国家"双碳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"战略提供可复制的实践路径。</a:t>
            </a:r>
            <a:endParaRPr lang="en-US" sz="1408" dirty="0"/>
          </a:p>
        </p:txBody>
      </p:sp>
      <p:sp>
        <p:nvSpPr>
          <p:cNvPr id="16" name="Shape 14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849978" y="528066"/>
            <a:ext cx="2741249" cy="61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社会影响</a:t>
            </a:r>
            <a:endParaRPr lang="en-US" sz="536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976579" y="1914068"/>
            <a:ext cx="621792" cy="622021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4702454" y="1914068"/>
            <a:ext cx="621792" cy="622021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8427110" y="1914068"/>
            <a:ext cx="621792" cy="6220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84366"/>
            <a:ext cx="337901" cy="22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184" dirty="0"/>
          </a:p>
        </p:txBody>
      </p:sp>
      <p:sp>
        <p:nvSpPr>
          <p:cNvPr id="6" name="Text 4"/>
          <p:cNvSpPr/>
          <p:nvPr/>
        </p:nvSpPr>
        <p:spPr>
          <a:xfrm>
            <a:off x="10703357" y="6584366"/>
            <a:ext cx="1396472" cy="22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184" dirty="0"/>
          </a:p>
        </p:txBody>
      </p:sp>
      <p:sp>
        <p:nvSpPr>
          <p:cNvPr id="7" name="Text 5"/>
          <p:cNvSpPr/>
          <p:nvPr/>
        </p:nvSpPr>
        <p:spPr>
          <a:xfrm>
            <a:off x="680314" y="477317"/>
            <a:ext cx="6715354" cy="456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28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团队精神</a:t>
            </a:r>
            <a:endParaRPr lang="en-US" sz="3328" dirty="0"/>
          </a:p>
        </p:txBody>
      </p:sp>
      <p:sp>
        <p:nvSpPr>
          <p:cNvPr id="8" name="Text 6"/>
          <p:cNvSpPr/>
          <p:nvPr/>
        </p:nvSpPr>
        <p:spPr>
          <a:xfrm>
            <a:off x="680314" y="1147343"/>
            <a:ext cx="7238390" cy="231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44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我们深深扎根于哈尔滨工业大学"规格严格，功夫到家"的校</a:t>
            </a:r>
            <a:endParaRPr lang="en-US" sz="2144" dirty="0"/>
          </a:p>
          <a:p>
            <a:pPr algn="l" indent="0" marL="0">
              <a:buNone/>
            </a:pPr>
            <a:r>
              <a:rPr lang="en-US" sz="2144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训沃土，以此为精神内核与行动准则。团队以突破自然交互</a:t>
            </a:r>
            <a:endParaRPr lang="en-US" sz="2144" dirty="0"/>
          </a:p>
          <a:p>
            <a:pPr algn="l" indent="0" marL="0">
              <a:buNone/>
            </a:pPr>
            <a:r>
              <a:rPr lang="en-US" sz="2144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领域"卡脖子"关键技术为使命，专注于研发高精度、低成</a:t>
            </a:r>
            <a:endParaRPr lang="en-US" sz="2144" dirty="0"/>
          </a:p>
          <a:p>
            <a:pPr algn="l" indent="0" marL="0">
              <a:buNone/>
            </a:pPr>
            <a:r>
              <a:rPr lang="en-US" sz="2144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本、全自主的国产智能数据手套，矢志不渝地推动元宇宙产</a:t>
            </a:r>
            <a:endParaRPr lang="en-US" sz="2144" dirty="0"/>
          </a:p>
          <a:p>
            <a:pPr algn="l" indent="0" marL="0">
              <a:buNone/>
            </a:pPr>
            <a:r>
              <a:rPr lang="en-US" sz="2144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业安全落地，充分彰显了新时代青年科技报国的赤诚担当与</a:t>
            </a:r>
            <a:endParaRPr lang="en-US" sz="2144" dirty="0"/>
          </a:p>
          <a:p>
            <a:pPr algn="l" indent="0" marL="0">
              <a:buNone/>
            </a:pPr>
            <a:r>
              <a:rPr lang="en-US" sz="2144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创新锐气。</a:t>
            </a:r>
            <a:endParaRPr lang="en-US" sz="214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1637386" y="1255700"/>
            <a:ext cx="4295242" cy="700888"/>
          </a:xfrm>
          <a:prstGeom prst="roundRect">
            <a:avLst>
              <a:gd name="adj" fmla="val 19668"/>
            </a:avLst>
          </a:prstGeom>
          <a:solidFill>
            <a:srgbClr val="000000">
              <a:alpha val="0"/>
            </a:srgbClr>
          </a:solidFill>
          <a:ln w="25400">
            <a:solidFill>
              <a:srgbClr val="83B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37386" y="1255700"/>
            <a:ext cx="4510004" cy="700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扁平化组织架构</a:t>
            </a:r>
            <a:endParaRPr lang="en-US" sz="3360" dirty="0"/>
          </a:p>
        </p:txBody>
      </p:sp>
      <p:sp>
        <p:nvSpPr>
          <p:cNvPr id="9" name="Text 7"/>
          <p:cNvSpPr/>
          <p:nvPr/>
        </p:nvSpPr>
        <p:spPr>
          <a:xfrm>
            <a:off x="1723949" y="2159584"/>
            <a:ext cx="4329501" cy="6145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构，由范柳丰博士（哈工大计算学部博士，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主持国家自然基金项目）统筹战略与技术攻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（软件、硬件、系统架构）专注算法优化、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传感器集成与系统设计；产品运营组深度联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动用户需求与开发者生态；质量供应链组严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守军工/医疗级标准并高效对接关键供应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部，形成"1博士+5硕士+1本科"梯队，专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业覆盖计算机科学、软件工程、材料工程，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实现"算法-硬件-产品-市场"全链条能力闭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过每日站会、双周迭代评审强化跨模块协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同，确保技术研发与工业落地需求同频共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振。</a:t>
            </a:r>
            <a:endParaRPr lang="en-US" sz="1792" dirty="0"/>
          </a:p>
        </p:txBody>
      </p:sp>
      <p:sp>
        <p:nvSpPr>
          <p:cNvPr id="10" name="Shape 8"/>
          <p:cNvSpPr/>
          <p:nvPr/>
        </p:nvSpPr>
        <p:spPr>
          <a:xfrm>
            <a:off x="6258154" y="1255700"/>
            <a:ext cx="4295242" cy="700888"/>
          </a:xfrm>
          <a:prstGeom prst="roundRect">
            <a:avLst>
              <a:gd name="adj" fmla="val 19668"/>
            </a:avLst>
          </a:prstGeom>
          <a:solidFill>
            <a:srgbClr val="000000">
              <a:alpha val="0"/>
            </a:srgbClr>
          </a:solidFill>
          <a:ln w="25400">
            <a:solidFill>
              <a:srgbClr val="83B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8154" y="1255700"/>
            <a:ext cx="4510004" cy="700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三维激励与人才发展</a:t>
            </a:r>
            <a:endParaRPr lang="en-US" sz="3360" dirty="0"/>
          </a:p>
        </p:txBody>
      </p:sp>
      <p:sp>
        <p:nvSpPr>
          <p:cNvPr id="12" name="Text 10"/>
          <p:cNvSpPr/>
          <p:nvPr/>
        </p:nvSpPr>
        <p:spPr>
          <a:xfrm>
            <a:off x="6344717" y="2159584"/>
            <a:ext cx="4329501" cy="478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础科研补贴+里程碑绩效奖金+核心成员期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权池",绩效与算法精度达标、硬件成本优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化、场景验证成功等节点强关联。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措施多元融合：明确项目成果转化收益分配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机制；支持成员将技术突破转化为高水平论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文、专利及软著，并对接校级"大创计划"学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分认定与孵化资源。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""攻坚先锋"等荣誉激励，定期邀请产业导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师开展职业发展辅导，强化事业共同体意识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与文化凝聚力。 - 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业专家顾问团，完善人才梯队建设，将个人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学术成长、职业发展与项目产业化进程深度</a:t>
            </a:r>
            <a:endParaRPr lang="en-US" sz="1792" dirty="0"/>
          </a:p>
          <a:p>
            <a:pPr algn="l" indent="0" marL="0">
              <a:buNone/>
            </a:pPr>
            <a:r>
              <a:rPr lang="en-US" sz="1792" dirty="0">
                <a:solidFill>
                  <a:srgbClr val="000000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耦合。</a:t>
            </a:r>
            <a:endParaRPr lang="en-US" sz="1792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79222" y="158420"/>
            <a:ext cx="11834774" cy="1632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79222" y="321640"/>
            <a:ext cx="11834774" cy="0"/>
          </a:xfrm>
          <a:prstGeom prst="line">
            <a:avLst/>
          </a:prstGeom>
          <a:noFill/>
          <a:ln w="12700">
            <a:solidFill>
              <a:srgbClr val="000000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222" y="406679"/>
            <a:ext cx="3610051" cy="6280556"/>
          </a:xfrm>
          <a:prstGeom prst="roundRect">
            <a:avLst>
              <a:gd name="adj" fmla="val 142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0000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2438" y="406679"/>
            <a:ext cx="8200339" cy="6280556"/>
          </a:xfrm>
          <a:prstGeom prst="roundRect">
            <a:avLst>
              <a:gd name="adj" fmla="val 47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0000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0922" y="663169"/>
            <a:ext cx="198730" cy="198882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9" name="Text 7"/>
          <p:cNvSpPr/>
          <p:nvPr/>
        </p:nvSpPr>
        <p:spPr>
          <a:xfrm>
            <a:off x="4378147" y="622706"/>
            <a:ext cx="7427366" cy="249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88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扁平化组织架构</a:t>
            </a:r>
            <a:endParaRPr lang="en-US" sz="1888" dirty="0"/>
          </a:p>
        </p:txBody>
      </p:sp>
      <p:sp>
        <p:nvSpPr>
          <p:cNvPr id="10" name="Text 8"/>
          <p:cNvSpPr/>
          <p:nvPr/>
        </p:nvSpPr>
        <p:spPr>
          <a:xfrm>
            <a:off x="4378147" y="912800"/>
            <a:ext cx="7427366" cy="897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构建"核心引领、模块协同"的扁平架构，由范柳丰博士统筹战略与技术攻坚。下设技术研发、产品运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营、质量供应链三大职能模块，7人核心团队形成"1博士+5硕士+1本科"梯队，专业覆盖计算机科学、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软件工程、材料工程，实现全链条能力闭环。日常采用Scrum敏捷模式，通过每日站会、双周迭代强化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跨模块协同。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020922" y="2163013"/>
            <a:ext cx="198730" cy="198882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378147" y="2122551"/>
            <a:ext cx="7427366" cy="249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88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贡献导向的薪酬体系</a:t>
            </a:r>
            <a:endParaRPr lang="en-US" sz="1888" dirty="0"/>
          </a:p>
        </p:txBody>
      </p:sp>
      <p:sp>
        <p:nvSpPr>
          <p:cNvPr id="13" name="Text 11"/>
          <p:cNvSpPr/>
          <p:nvPr/>
        </p:nvSpPr>
        <p:spPr>
          <a:xfrm>
            <a:off x="4378147" y="2412644"/>
            <a:ext cx="7427366" cy="67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结合在校生团队特性，设立"基础科研补贴+里程碑绩效奖金+核心成员期权池"的复合薪酬结构。绩效奖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金与算法精度达标、硬件成本优化、场景验证成功等关键节点强关联，突出价值创造与阶段成果挂钩，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强化贡献导向。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4020922" y="3662858"/>
            <a:ext cx="198730" cy="198882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378147" y="3622396"/>
            <a:ext cx="7427366" cy="249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88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多元融合的激励措施</a:t>
            </a:r>
            <a:endParaRPr lang="en-US" sz="1888" dirty="0"/>
          </a:p>
        </p:txBody>
      </p:sp>
      <p:sp>
        <p:nvSpPr>
          <p:cNvPr id="16" name="Text 14"/>
          <p:cNvSpPr/>
          <p:nvPr/>
        </p:nvSpPr>
        <p:spPr>
          <a:xfrm>
            <a:off x="4378147" y="3911803"/>
            <a:ext cx="7427366" cy="67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制度层面：明确项目成果转化收益分配机制，强化事业共同体意识。 - 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破转化为高水平论文、专利及软著，并对接校级"大创计划"学分认定、竞赛奖金与孵化资源。 - 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面：设立"月度创新之星""攻坚先锋"等荣誉，定期邀请产业导师开展职业发展辅导。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4020922" y="5162702"/>
            <a:ext cx="198730" cy="198882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378147" y="5122240"/>
            <a:ext cx="7427366" cy="249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88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长期绑定与成长赋能</a:t>
            </a:r>
            <a:endParaRPr lang="en-US" sz="1888" dirty="0"/>
          </a:p>
        </p:txBody>
      </p:sp>
      <p:sp>
        <p:nvSpPr>
          <p:cNvPr id="19" name="Text 17"/>
          <p:cNvSpPr/>
          <p:nvPr/>
        </p:nvSpPr>
        <p:spPr>
          <a:xfrm>
            <a:off x="4378147" y="5411648"/>
            <a:ext cx="7427366" cy="67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激励体系旨在将个人学术成长、职业发展与项目产业化进程深度耦合。通过支持论文发表、专利申请、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对接竞赛与孵化资源，赋能成员长期发展。同时规划随融资进展引入行业专家顾问团，完善人才梯队建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设，为技术持续突破注入可持续动能。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604662" y="158420"/>
            <a:ext cx="1130076" cy="11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6C6C6C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人力资源管理体系</a:t>
            </a:r>
            <a:endParaRPr lang="en-US" sz="896" dirty="0"/>
          </a:p>
        </p:txBody>
      </p:sp>
      <p:sp>
        <p:nvSpPr>
          <p:cNvPr id="21" name="Text 19"/>
          <p:cNvSpPr/>
          <p:nvPr/>
        </p:nvSpPr>
        <p:spPr>
          <a:xfrm>
            <a:off x="365760" y="3300070"/>
            <a:ext cx="2029115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68" b="1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团队结构</a:t>
            </a:r>
            <a:endParaRPr lang="en-US" sz="396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7072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7072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张展教授（技术顾问）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957072" y="3300755"/>
            <a:ext cx="3108716" cy="2654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手套提供高精度传感融合与多模态交互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算法核心指导。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金项目，将流式大数据处理理论深度融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入产品架构设计。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跨学科研发平台，驱动材料科学、边缘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计算等方向的科研创新。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真、职业教育场景，强化技术落地，并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以博士生导师身份系统训练团队科研与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工程能力。</a:t>
            </a:r>
            <a:endParaRPr lang="en-US" sz="1408" dirty="0"/>
          </a:p>
        </p:txBody>
      </p:sp>
      <p:sp>
        <p:nvSpPr>
          <p:cNvPr id="8" name="Shape 6"/>
          <p:cNvSpPr/>
          <p:nvPr/>
        </p:nvSpPr>
        <p:spPr>
          <a:xfrm>
            <a:off x="4335475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2947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2947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娄久教授（技术顾问）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4682947" y="3300755"/>
            <a:ext cx="3108716" cy="24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主导产品工程化与产业化实践路径。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引入军工级质量管控标准，显著提升手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套在高温、振动等极端工况下的稳定性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与可靠性。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协助构建全生命周期测试体系，联动企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业及科研机构拓展合作生态。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教学成果奖经验赋能团队工程实践，提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升从原型验证到量产落地的孵化效率。</a:t>
            </a:r>
            <a:endParaRPr lang="en-US" sz="1408" dirty="0"/>
          </a:p>
        </p:txBody>
      </p:sp>
      <p:sp>
        <p:nvSpPr>
          <p:cNvPr id="12" name="Shape 10"/>
          <p:cNvSpPr/>
          <p:nvPr/>
        </p:nvSpPr>
        <p:spPr>
          <a:xfrm>
            <a:off x="8060131" y="1547165"/>
            <a:ext cx="3522269" cy="4461815"/>
          </a:xfrm>
          <a:prstGeom prst="roundRect">
            <a:avLst>
              <a:gd name="adj" fmla="val 2621"/>
            </a:avLst>
          </a:prstGeom>
          <a:solidFill>
            <a:srgbClr val="FFFFFF">
              <a:alpha val="88000"/>
            </a:srgbClr>
          </a:solidFill>
          <a:ln w="11430">
            <a:solidFill>
              <a:srgbClr val="FFFFFF">
                <a:alpha val="64000"/>
              </a:srgbClr>
            </a:solidFill>
            <a:prstDash val="solid"/>
          </a:ln>
          <a:effectLst>
            <a:outerShdw sx="100000" sy="100000" kx="0" ky="0" algn="bl" rotWithShape="0" blurRad="406400" dist="762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07603" y="1894865"/>
            <a:ext cx="660806" cy="660425"/>
          </a:xfrm>
          <a:prstGeom prst="ellipse">
            <a:avLst/>
          </a:prstGeom>
          <a:solidFill>
            <a:srgbClr val="FFFFFF">
              <a:alpha val="58000"/>
            </a:srgbClr>
          </a:solidFill>
          <a:ln w="19050">
            <a:solidFill>
              <a:srgbClr val="181818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7603" y="2809723"/>
            <a:ext cx="3108716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彭维斌（战略顾问）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8407603" y="3300755"/>
            <a:ext cx="3108716" cy="2654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准锚定元宇宙交互设备市场定位，制定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分阶段商业化路径。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询及投资实战经验，高效整合产业资源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与资本网络，提供融资、品牌及合作对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接支持。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历，开展战略推演、组织管理等专项训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练。 - 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坚能力，为产品在激烈竞争中的可持续</a:t>
            </a:r>
            <a:endParaRPr lang="en-US" sz="1408" dirty="0"/>
          </a:p>
          <a:p>
            <a:pPr algn="l" indent="0" marL="0">
              <a:buNone/>
            </a:pPr>
            <a:r>
              <a:rPr lang="en-US" sz="1408" dirty="0">
                <a:solidFill>
                  <a:srgbClr val="181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孵化注入核心动能。</a:t>
            </a:r>
            <a:endParaRPr lang="en-US" sz="1408" dirty="0"/>
          </a:p>
        </p:txBody>
      </p:sp>
      <p:sp>
        <p:nvSpPr>
          <p:cNvPr id="16" name="Shape 14"/>
          <p:cNvSpPr/>
          <p:nvPr/>
        </p:nvSpPr>
        <p:spPr>
          <a:xfrm>
            <a:off x="0" y="6537046"/>
            <a:ext cx="12192000" cy="320954"/>
          </a:xfrm>
          <a:prstGeom prst="rect">
            <a:avLst/>
          </a:prstGeom>
          <a:solidFill>
            <a:srgbClr val="1F6BC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598768"/>
            <a:ext cx="269199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841126" y="6598768"/>
            <a:ext cx="1238037" cy="198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NAME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849978" y="528066"/>
            <a:ext cx="2741249" cy="61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3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endParaRPr lang="en-US" sz="536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976579" y="1914068"/>
            <a:ext cx="621792" cy="622021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4702454" y="1914068"/>
            <a:ext cx="621792" cy="622021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8427110" y="1914068"/>
            <a:ext cx="621792" cy="62202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15594" y="2364638"/>
            <a:ext cx="10159594" cy="45605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594" y="2820695"/>
            <a:ext cx="1015959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594" y="2364638"/>
            <a:ext cx="1835993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Working group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674096" y="2364638"/>
            <a:ext cx="57765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15594" y="3243148"/>
            <a:ext cx="487680" cy="48760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9" name="Text 7"/>
          <p:cNvSpPr/>
          <p:nvPr/>
        </p:nvSpPr>
        <p:spPr>
          <a:xfrm>
            <a:off x="1706880" y="3291154"/>
            <a:ext cx="1916460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赵建国教授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80406" y="3125191"/>
            <a:ext cx="64008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清华大学智能交互设计研究中心教授，为项目提供技术标准</a:t>
            </a:r>
            <a:endParaRPr lang="en-US" sz="1900" dirty="0"/>
          </a:p>
          <a:p>
            <a:pPr algn="r" indent="0" marL="0">
              <a:buNone/>
            </a:pPr>
            <a:r>
              <a:rPr lang="en-US" sz="1900" b="1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与学术前沿的权威指导。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015594" y="4210812"/>
            <a:ext cx="487680" cy="487604"/>
          </a:xfrm>
          <a:prstGeom prst="ellipse">
            <a:avLst/>
          </a:prstGeom>
          <a:solidFill>
            <a:srgbClr val="F6F8FB"/>
          </a:solidFill>
          <a:ln/>
        </p:spPr>
      </p:sp>
      <p:sp>
        <p:nvSpPr>
          <p:cNvPr id="12" name="Text 10"/>
          <p:cNvSpPr/>
          <p:nvPr/>
        </p:nvSpPr>
        <p:spPr>
          <a:xfrm>
            <a:off x="1706880" y="4258818"/>
            <a:ext cx="1916460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周敏总经理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80406" y="4092854"/>
            <a:ext cx="64008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深圳创新投资集团执行总经理，为项目提供商业模式与产业</a:t>
            </a:r>
            <a:endParaRPr lang="en-US" sz="1900" dirty="0"/>
          </a:p>
          <a:p>
            <a:pPr algn="r" indent="0" marL="0">
              <a:buNone/>
            </a:pPr>
            <a:r>
              <a:rPr lang="en-US" sz="1900" b="1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资源对接的关键支持。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0" y="6248324"/>
            <a:ext cx="12192000" cy="6096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248324"/>
            <a:ext cx="12192000" cy="0"/>
          </a:xfrm>
          <a:prstGeom prst="line">
            <a:avLst/>
          </a:prstGeom>
          <a:noFill/>
          <a:ln w="12700">
            <a:solidFill>
              <a:srgbClr val="E8EAED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600" y="6407429"/>
            <a:ext cx="304800" cy="304495"/>
          </a:xfrm>
          <a:prstGeom prst="roundRect">
            <a:avLst>
              <a:gd name="adj" fmla="val 80160"/>
            </a:avLst>
          </a:prstGeom>
          <a:solidFill>
            <a:srgbClr val="F6F8FB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015594" y="3243148"/>
            <a:ext cx="487680" cy="487604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015594" y="4210812"/>
            <a:ext cx="487680" cy="4876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96086" y="6437605"/>
            <a:ext cx="747309" cy="24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外部专家</a:t>
            </a:r>
            <a:endParaRPr lang="en-US" sz="1280" dirty="0"/>
          </a:p>
        </p:txBody>
      </p:sp>
      <p:sp>
        <p:nvSpPr>
          <p:cNvPr id="20" name="Text 16"/>
          <p:cNvSpPr/>
          <p:nvPr/>
        </p:nvSpPr>
        <p:spPr>
          <a:xfrm>
            <a:off x="10353446" y="6437605"/>
            <a:ext cx="1351849" cy="24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 Author Name</a:t>
            </a:r>
            <a:endParaRPr lang="en-US" sz="12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300826" y="747522"/>
            <a:ext cx="5363261" cy="5362956"/>
          </a:xfrm>
          <a:prstGeom prst="roundRect">
            <a:avLst>
              <a:gd name="adj" fmla="val 58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9D1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77635" y="825017"/>
            <a:ext cx="5208422" cy="5207965"/>
          </a:xfrm>
          <a:prstGeom prst="roundRect">
            <a:avLst>
              <a:gd name="adj" fmla="val 438"/>
            </a:avLst>
          </a:prstGeom>
          <a:solidFill>
            <a:srgbClr val="F6F8FB"/>
          </a:solidFill>
          <a:ln w="25400">
            <a:solidFill>
              <a:srgbClr val="E8EAE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310" y="242087"/>
            <a:ext cx="4968301" cy="625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四新建设</a:t>
            </a:r>
            <a:endParaRPr lang="en-US" sz="4560" dirty="0"/>
          </a:p>
        </p:txBody>
      </p:sp>
      <p:sp>
        <p:nvSpPr>
          <p:cNvPr id="6" name="Text 4"/>
          <p:cNvSpPr/>
          <p:nvPr/>
        </p:nvSpPr>
        <p:spPr>
          <a:xfrm>
            <a:off x="502310" y="1106881"/>
            <a:ext cx="4968301" cy="135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哈工大以新工科为内核，通过"基础融通—前沿聚焦—产教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协同"的育人体系，构建了跨学科的知识结构。团队成员在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校期间深度参与《柔性电子器件设计》《多模态感知计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算》等交叉课程与项目制训练，融合了材料科学、人工智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能与系统工程等领域的硬核知识与能力。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02310" y="2641016"/>
            <a:ext cx="4968301" cy="54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在"龙影元宇宙多模态智能数据手套"项目中，这一复合能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力结构贯穿了研发全周期: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502310" y="3364535"/>
            <a:ext cx="4968301" cy="54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502310" y="4088054"/>
            <a:ext cx="4968301" cy="54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动态追踪上的精度突破。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502310" y="4811573"/>
            <a:ext cx="4968301" cy="54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据的毫秒级同步与闭环反馈。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502310" y="5535092"/>
            <a:ext cx="4968301" cy="1080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团队能够快速定位"感知失真""延迟卡顿"等跨域瓶颈，提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出材料-算法-交互协同优化方案，显著提升了产品在工业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仿真等高要求场景的可靠性，充分体现了"四新"建设在培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育解决复杂工程问题能力方面的价值。</a:t>
            </a:r>
            <a:endParaRPr lang="en-US" sz="152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677046" y="2819324"/>
            <a:ext cx="609600" cy="6096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3238" y="3530498"/>
            <a:ext cx="5415077" cy="50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代表不同学科领域（如材料、AI、系统工程）的齿轮相互咬合，象征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跨学科知识融合与协同创新的示意图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316480" y="4081882"/>
            <a:ext cx="7559040" cy="38405"/>
          </a:xfrm>
          <a:prstGeom prst="rect">
            <a:avLst/>
          </a:prstGeom>
          <a:solidFill>
            <a:srgbClr val="2683EB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06726" y="3075813"/>
            <a:ext cx="19507" cy="91417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06726" y="3075813"/>
            <a:ext cx="0" cy="914171"/>
          </a:xfrm>
          <a:prstGeom prst="line">
            <a:avLst/>
          </a:prstGeom>
          <a:noFill/>
          <a:ln w="19050">
            <a:solidFill>
              <a:srgbClr val="2683EB">
                <a:alpha val="25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554480" y="-1381887"/>
            <a:ext cx="1676400" cy="41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教育筑基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0870" y="-840791"/>
            <a:ext cx="4000500" cy="373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构建"专业筑基+商业赋能"融合培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养模式，开设《智能硬件创业》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《技术商业化实务》等交叉课程。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依托"祖光杯""校长杯"等赛事平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台，联合智能人机交互研究中心设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立专项训练营，由产业导师指导团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队完成技术可行性验证与商业逻辑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推演，系统训练学生将专业知识与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市场需求精准对接的能力。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086246" y="4212184"/>
            <a:ext cx="19507" cy="91417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86246" y="4212184"/>
            <a:ext cx="0" cy="914171"/>
          </a:xfrm>
          <a:prstGeom prst="line">
            <a:avLst/>
          </a:prstGeom>
          <a:noFill/>
          <a:ln w="19050">
            <a:solidFill>
              <a:srgbClr val="2683EB">
                <a:alpha val="25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334000" y="5309464"/>
            <a:ext cx="1676400" cy="41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训练淬炼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91610" y="5850560"/>
            <a:ext cx="4000500" cy="4107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通过参与"互联网+"大赛省赛金奖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项目及国家级大创计划，在工业仿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真企业实地调研中精准捕捉用户痛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点。将柔性传感阵列设计、多模态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交互算法等科研积累，转化为解决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实训成本高、操作风险大等社会问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题的商业方案。熟练掌握商业模式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画布设计、用户旅程分析等工具，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实现专业知识与商业逻辑的有机融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865766" y="3075813"/>
            <a:ext cx="19507" cy="91417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65766" y="3075813"/>
            <a:ext cx="0" cy="914171"/>
          </a:xfrm>
          <a:prstGeom prst="line">
            <a:avLst/>
          </a:prstGeom>
          <a:noFill/>
          <a:ln w="19050">
            <a:solidFill>
              <a:srgbClr val="2683EB">
                <a:alpha val="25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13520" y="-1381887"/>
            <a:ext cx="1676400" cy="41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孵化落地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971130" y="-840791"/>
            <a:ext cx="4000500" cy="373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纳入学校创新创业园"苗圃-孵化-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加速"全链条培育体系，获种子基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金、专利导航及供应链资源支持。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在"祖光创客"计划推动下，与航天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科工等企业开展场景验证，完成产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品原型迭代与社会价值实证。切实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将技术创新转化为提升工业培训安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全性、降低元宇宙交互门槛的实践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000000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成果，形成"研产用"闭环。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53440" y="536296"/>
            <a:ext cx="3337377" cy="65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创新创业支持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2205533" y="3989984"/>
            <a:ext cx="221894" cy="222199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85053" y="3989984"/>
            <a:ext cx="221894" cy="222199"/>
          </a:xfrm>
          <a:prstGeom prst="ellipse">
            <a:avLst/>
          </a:prstGeom>
          <a:solidFill>
            <a:srgbClr val="2683EB"/>
          </a:solidFill>
          <a:ln/>
        </p:spPr>
      </p:sp>
      <p:sp>
        <p:nvSpPr>
          <p:cNvPr id="20" name="Shape 18"/>
          <p:cNvSpPr/>
          <p:nvPr/>
        </p:nvSpPr>
        <p:spPr>
          <a:xfrm>
            <a:off x="9764573" y="3989984"/>
            <a:ext cx="221894" cy="222199"/>
          </a:xfrm>
          <a:prstGeom prst="ellipse">
            <a:avLst/>
          </a:prstGeom>
          <a:solidFill>
            <a:srgbClr val="2683E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27914" y="747522"/>
            <a:ext cx="5363261" cy="5362956"/>
          </a:xfrm>
          <a:prstGeom prst="roundRect">
            <a:avLst>
              <a:gd name="adj" fmla="val 58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9D1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5942" y="825017"/>
            <a:ext cx="5208422" cy="5207965"/>
          </a:xfrm>
          <a:prstGeom prst="roundRect">
            <a:avLst>
              <a:gd name="adj" fmla="val 438"/>
            </a:avLst>
          </a:prstGeom>
          <a:solidFill>
            <a:srgbClr val="F6F8FB"/>
          </a:solidFill>
          <a:ln w="25400">
            <a:solidFill>
              <a:srgbClr val="E8EAED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2905354" y="2819324"/>
            <a:ext cx="609600" cy="6096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546" y="3530498"/>
            <a:ext cx="5415077" cy="50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产教协同育人生态示意图，展示学校、企业、实验室与学生团队之间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C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的知识、项目与人才流动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57974" y="792099"/>
            <a:ext cx="4968301" cy="1250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60" b="1" dirty="0">
                <a:solidFill>
                  <a:srgbClr val="268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产教科教产学研协同</a:t>
            </a:r>
            <a:endParaRPr lang="en-US" sz="4560" dirty="0"/>
          </a:p>
        </p:txBody>
      </p:sp>
      <p:sp>
        <p:nvSpPr>
          <p:cNvPr id="8" name="Text 5"/>
          <p:cNvSpPr/>
          <p:nvPr/>
        </p:nvSpPr>
        <p:spPr>
          <a:xfrm>
            <a:off x="6957974" y="2282342"/>
            <a:ext cx="4968301" cy="1892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哈尔滨工业大学依托国家级科研平台与头部企业共建的产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教融合基地，为项目提供了前沿课题、真实场景与"校内导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师+企业工程师"双指导模式。学生在参与国家级课题与项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目制实训中，系统掌握了从材料选型、算法仿真到原型测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试的全链条研发逻辑，并将产业思维前置嵌入创新起点，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使"龙影"数据手套精准对接工业级需求，显著缩短了技术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验证到产业落地的周期。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6957974" y="4174465"/>
            <a:ext cx="4968301" cy="1892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在项目全周期中，学生的认知成长与主动实践深度驱动了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技术创新与转化。从通过校企双导机制精准锚定产业痛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点，到依托科研平台攻克柔性传感阵列设计、多模态信号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融合等关键技术，再到借助产学研平台主动对接应用场景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并优化产品，学生完成了从"问题发现"到"价值实现"的能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力塑造。这一过程不仅加速了技术产业化，更彰显了新时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000000">
                    <a:alpha val="9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代工科人才的使命担当。</a:t>
            </a:r>
            <a:endParaRPr lang="en-US" sz="15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5598185"/>
            <a:ext cx="109728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相关图片信息</a:t>
            </a:r>
            <a:endParaRPr 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9017203" y="4635322"/>
            <a:ext cx="1905610" cy="952576"/>
          </a:xfrm>
          <a:prstGeom prst="ellipse">
            <a:avLst/>
          </a:prstGeom>
          <a:solidFill>
            <a:srgbClr val="2683EB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6819595"/>
            <a:ext cx="12192000" cy="384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508178"/>
            <a:ext cx="584667" cy="19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敬请指导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2000" y="2413330"/>
            <a:ext cx="6349594" cy="63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龙影元宇宙多模态智能数据手套项目</dc:title>
  <dc:subject>PptxGenJS Presentation</dc:subject>
  <dc:creator>PptxGenJS</dc:creator>
  <cp:lastModifiedBy>PptxGenJS</cp:lastModifiedBy>
  <cp:revision>1</cp:revision>
  <dcterms:created xsi:type="dcterms:W3CDTF">2026-03-30T05:26:40Z</dcterms:created>
  <dcterms:modified xsi:type="dcterms:W3CDTF">2026-03-30T05:26:40Z</dcterms:modified>
</cp:coreProperties>
</file>